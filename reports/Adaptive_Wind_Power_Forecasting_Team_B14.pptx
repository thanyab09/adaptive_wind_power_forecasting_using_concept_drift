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548640" rIns="5486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PANIMALAR ENGINEERING COLLEGE</a:t>
            </a:r>
          </a:p>
          <a:p>
            <a:pPr algn="ctr">
              <a:spcAft>
                <a:spcPts val="1800"/>
              </a:spcAft>
              <a:defRPr sz="1050">
                <a:solidFill>
                  <a:srgbClr val="64748B"/>
                </a:solidFill>
              </a:defRPr>
            </a:pPr>
            <a:r>
              <a:t>An Autonomous Institution, Affiliated to Anna University, Chennai</a:t>
            </a:r>
            <a:br/>
            <a:r>
              <a:t>Department of Artificial Intelligence &amp; Machine Learning</a:t>
            </a:r>
          </a:p>
          <a:p>
            <a:pPr algn="ctr">
              <a:defRPr sz="2200" b="1">
                <a:solidFill>
                  <a:srgbClr val="0D9488"/>
                </a:solidFill>
              </a:defRPr>
            </a:pPr>
            <a:r>
              <a:t>ADAPTIVE WIND POWER FORECASTING USING CONCEPT DRIFT DETECTION</a:t>
            </a:r>
          </a:p>
          <a:p>
            <a:pPr algn="ctr">
              <a:spcAft>
                <a:spcPts val="2400"/>
              </a:spcAft>
              <a:defRPr sz="1150" b="1">
                <a:solidFill>
                  <a:srgbClr val="D97706"/>
                </a:solidFill>
              </a:defRPr>
            </a:pPr>
            <a:r>
              <a:t>Final-Year B.Tech Capstone Project Presentation |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816833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TEAM B14 MEMBERS: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1. THANYA B  [Reg. No: 211423247227]</a:t>
            </a:r>
            <a:br/>
            <a:r>
              <a:t>2. THEJESSRI S  [Reg. No: 211423247229]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PROJECT SUPERVISOR:  Mr. M. Ezhilvendhan, M.E.,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Presentation Outline &amp; Key 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Part I: Problem &amp; Methodology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Introduction, Non-Linear Cubic Aerodynamics &amp; Motivation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Concept Drift in Wind Energy: Real vs Virtual Drift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Problem Statement &amp; Research Hypotheses (H1 to H4)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Literature Survey &amp; Surveyed Works Comparison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5. Proposed 7-Module Adaptive Architecture &amp; Data Flow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6. 10-Feature Engineering Pipeline &amp; Leakage-Free Preprocessing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7. Base Forecaster: HistGradientBoostingRegressor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Part II: Results, Verification &amp; UI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8. Heteroscedastic Error Calibration (6-Quantile Map)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9. Dual Drift Monitoring: Page-Hinkley &amp; KS/PSI Advisory Channel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10. Adaptive Controller: Exponential Recency &amp; Change-Point Weighting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11. Benchmark Results: 75.0% MAE Reduction under Injected Drift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12. Computational Overhead: 4.9× Fewer Retrainings than Weekly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13. No-Drift Control Scenario &amp; False Alarm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14. Full-Stack SCADA Web Platform &amp; UI Outputs Gallery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15. Conclusion, UN SDG Alignment &amp; 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Wind Power Aerodynamics &amp; Forecasting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The Physics: Cubic Power Law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Kinetic Power Equation: P = 0.5 * rho * A * Cp * v^3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Cubic Sensitivity: A 10% error in wind speed causes ~33% discrepancy in electrical generation!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Non-linear turbine curve: Cut-in at 3 m/s, rated speed at 12 m/s (2000 kW), cut-out at 25 m/s.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Steep Region 2 (8-12 m/s): Where 85% of operational forecasting errors concentrate.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Air density variations: Cold winter air is denser, producing higher kinetic energy.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Grid Impact &amp; Operational Challenges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Grid Dispatch Stability: Inaccurate forecasts force expensive spinning fossil reserves.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Wholesale Market Penalties: Deviations between day-ahead bids and generation incur heavy imbalance fines.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Intermittent Nature: Fast diurnal and seasonal fluctuations require continuous 1h-ahead accuracy.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Conventional Failure: Models trained once assume stationarity, deteriorating silently as turbine physics evolve.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Project Goal: Build an evidence-driven adaptive system that recalibrates only when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Concept Drift Taxonomy: Real Drift vs Virtual Drift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11D48"/>
                </a:solidFill>
              </a:defRPr>
            </a:pPr>
            <a:r>
              <a:t>1. Real Concept Drift: P(y | x) Changes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Physical Turbine Degradation: Blade erosion, icing, gearbox friction reduce power output for identical wind speeds.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Aerodynamic Wake Deficits: Construction of nearby downwind turbine clusters creates direction-dependent shadow losses (8.5% loss in 200°-265° sector).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Operational Curtailment: Grid operator caps maximum power below rated nameplate.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Critical Threat: Learned weather-to-power mapping becomes invalid; static models suffer persistent positive forecast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2. Virtual Concept Drift: P(x) Changes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Seasonal Weather Regime Changes: Transition between summer and winter shifts mean speed and direction distributions.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Sensor Recalibration: Anemometer recalibration shifts recorded speeds (e.g. 1.04x scaling) without altering energy conversion.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Key Research Insight: Virtual weather shifts produce low KS p-values (&lt; 1e-19) even when turbine physics remain stationary.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Decoupling Rule: Input drift must act strictly as an advisory channel to prevent alarm storming.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Statement &amp; Limitations of Existing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11D48"/>
                </a:solidFill>
              </a:defRPr>
            </a:pPr>
            <a:r>
              <a:t>Existing Practice &amp; Drawbacks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Train-Once Static Deployment: Model trained on historical data is deployed frozen. When drift occurs, error jumps silently from 25 kW to 135 kW with no alert.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Blind Calendar Retraining (Weekly/Monthly): Wastes massive computation when conditions are stationary; still reacts with days of lag to abrupt mid-week changes.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Small Sample Variance Penalty: Blindly fitting a short 4-week window under stationary conditions worsens error by +30.2% due to high estimator variance.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Complex Deep Learning Pipelines: Spatio-temporal GNNs/LSTMs are compute-heavy, hard to tune, and lack interpretable drift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Our Proposed Solution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Evidence-Driven Adaptation: Retraining triggers only when sequential statistical test proves error distribution has shifted.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Lightweight Standard Regressor: Fast histogram gradient boosting (120 trees, 0.12s training time).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Scale-Free Error Calibration: Normalizes errors by expected power variance to avoid seasonal false alarms.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Drift-Aware Weighting: Retrains on 672h window, penalizing pre-change samples (0.08x) so new physics dominate.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Honest Evaluation: 10 random seeds, no-drift controls, and reported detection latency and compute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Research Questions &amp; Testable Hypotheses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Formal Research Hypotheses (Table 1.3 in Report)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Central Question: Can concept drift detection and adaptive learning keep wind-power forecasts reliable under changing conditions than a model trained once, and at what cost?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H1 [Supported]: When the weather-to-power relationship changes, drift-triggered retraining yields a statistically significant lower forecast error than a static model (MAE 134.7 -&gt; 33.7 kW, p = 3.0e-13).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H2 [Supported]: When no drift occurs, the adaptive model raises ZERO alarms and its accuracy equals the static model (MAE 25.5 kW; 0 false alarms across 10 random seeds).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H3 [Supported]: Drift-triggered retraining reaches accuracy comparable or superior to blind weekly retraining (33.7 kW vs 35.3 kW) while requiring 4.9x fewer retrainings (16.2 vs 80.0 retrains).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H4 [Supported]: Adaptation benefits scale non-linearly with drift magnitude; subtle shifts (&lt;= 0.1) are safely ignored, while large shifts yield up to 83% error reduction.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Literature Survey &amp; Identified Research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Key Surveyed Works (2025-2026)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He et al. (Appl. Energy 2025): Online quantile-regression LSTM using KL divergence for virtual drift and CRPS for real drift. Complex deep pipeline; update compute cost not analyzed.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Cao et al. (Appl. Energy 2025): Online probabilistic forecast combination under load drift. Showed ensembles degrade by 12% under drift.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Cao, He &amp; Zhou (Eng. Appl. AI 2026): Online feature extraction with TCN-BiLSTM; re-selects inputs at drift. Heavy architecture, difficult to reproduce.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Bahi et al. (2026 FreeGNN): Spatio-temporal graph network with memory replay. High GPU compute; subtle drift missed.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C3AED"/>
                </a:solidFill>
              </a:defRPr>
            </a:pPr>
            <a:r>
              <a:t>Identified Gaps Addressed by This Project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Gap 1: Absence of a lightweight, interpretable statistical trigger. Most prior works rely on complex deep nets rather than standard gradient boosted trees.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Gap 2: Neglect of adaptation costs. Prior literature rarely reports detection latency, false alarm rates, or cumulative wall-clock retraining runtime.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Gap 3: Flawed evaluation protocols. Literature frequently uses random train/test splits that leak future temporal patterns, hiding true drift penalties.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Our Position: First study to benchmark accuracy, detection delay, false alarms, and CPU cost concurrently across 10 random seeds with no-drift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Proposed Modular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7 End-to-End Operational Modules (Figure 4.1)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M1  |  Data Acquisition: Ingests continuous SCADA telemetry (wind speed, wind direction, temperature, power generation).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M2  |  Chronological Preprocessing: Builds 10 features strictly preserving time order (speed, sin/cos direction, temperature, power lags, rolling means).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M3  |  Base Forecast Model: Scikit-learn HistGradientBoostingRegressor (120 boosting trees, learning rate 0.1, max depth 6).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M4  |  Error Monitor &amp; Calibration: Heteroscedastic standardization: z(t) = |y(t) - ŷ(t)| / m(ŷ(t)) using a 6-quantile error map.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M5  |  Dual Drift Detectors: Page-Hinkley sequential change detector on z(t) (threshold λ = 15σ₀ = 12.0) + daily KS/PSI input monitors.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M6  |  Adaptation Controller: Enforces 48-hour refractory cooldown, extracts 672h sliding window, applies recency and drift-aware weights, fits updated model.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M7  |  Evaluation Engine: Prequential (test-then-train) scoring comparing Static, Adaptive, and Weekly models over 13,440 stream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Data Generation &amp; Chronological Streaming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Physically Grounded Synthetic Stream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Total Horizon: 106 weeks = 17,808 hourly observations for a 2,000 kW (2 MW) wind farm unit.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Wind Speed Physics: Seasonal cycle + diurnal cycle + AR(1) turbulence noise (mean 7.6 m/s, std 2.7 m/s, φ = 0.96).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Temperature &amp; Direction: Annual/daily thermal cycle + prevailing South-Westerly wind (225° ± 55°).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Piecewise Turbine Conversion: Follows Betz-law aerodynamics with air-density correction (ρ / 1.225) and sensor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Injected Multi-Component Drift at Week 28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Drift Onset: Hour 4,704 (Week 28)  |  exactly 2 weeks after initial model deployment.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Real Derating Drift: 7.5% drop in aerodynamic efficiency across all wind speeds (blade ageing/mechanical wear).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Real Wake Loss Drift: Additional 8.5% power loss restricted to 200°-265° sector (downwind wake turbulence).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Virtual Anemometer Drift: 1.04x scaling on recorded wind speed (sensor calibration offset).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Prequential Protocol: Test-then-train  |  forecast issued at hour t, actual power revealed at t+1; zero future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Feature Engineering &amp; Gradient Boosted Forecaster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10 Engineered Features (Table 5.2)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Wind Speed v(t): Primary driver under cubic conversion law.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2-3. Cyclic Direction [sin(d), cos(d)]: Eliminates 0°/360° discontinuity; captures direction-dependent wake losses.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Temperature T(t): Models air density variations impacting swept rotor kinetic energy.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5-7. Power Lags [P(t-1), P(t-2), P(t-24)]: Exploits strong autoregressive persistence and 24h diurnal cycles.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8. Rolling Mean Power (6h): Captures short-term generation momentum.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9-10. Speed Lag v(t-1) &amp; Rolling Speed (3h): Tracks atmospheric wind velocity acceleration.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HistGradientBoostingRegressor Setup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Algorithm: Histogram-based gradient boosted decision trees (LightGBM-inspired).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Boosting Trees (max_iter): 120 iterations with squared error loss (targets conditional mean).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Learning Rate (ν): 0.10 shrinkage rate.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Tree Max Depth: 6 levels (captures non-linear feature interactions without overfitting).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Min Samples per Leaf: 20 observations (regularization for small sliding windows).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Blazing Speed: Bins continuous features into 255 discrete integer buckets; retrains in just 0.12 seconds on CPU!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Heteroscedastic Error Calibration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Why Scale-Free Error Calibration is Mandatory (Section 5.5)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The Problem with Raw Error Monitoring: Absolute error |y - ŷ| naturally scales with power output. Wind speeds in Region 2 (8-12 m/s) produce raw errors of 65 kW, whereas low winds produce only 12 kW.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The Consequence: A detector monitoring uncalibrated raw residuals fires constant false alarms during windy winter weeks and sleeps during calm summer drifts.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Our 6-Quantile Calibration Map: Rolling-origin validation in initial window partitions forecasts into 6 quantile bins [0-71, 71-196, 196-373, 373-636, 636-1049, 1049-2000 kW].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Scale-Free Error Signal: Standardized residual z(t) = |y(t) - ŷ(t)| / m(ŷ(t)).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Invariant Baseline Properties: Under stationary conditions, z(t) maintains a stable baseline mean μ₀ = 1.00 and standard deviation σ₀ = 0.80 regardless of season or wind intensity!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Dual-Channel Concept Drift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Channel 1: Page-Hinkley Error Detector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Monitors cumulative deviation: m_t = sum(z_i - μ₀ - δ), with M_t = min(m_i).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Alarm Trigger: Alarm raised when m_t - M_t &gt; λ.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Calibrated Parameters: Tolerance δ = 0.6σ₀ = 0.48, Threshold λ = 15σ₀ = 12.0.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Exact Change Point Estimate: τ̂ = argmin(m_i) pinpoints exact hour when degradation started.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Detection Performance: Caught drift in 10/10 seeds with mean delay 21.5h and ZERO false alarms before onset.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Channel 2: Daily KS &amp; PSI Advisory Monitor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Kolmogorov-Smirnov (KS): Compares 168h window against reference distribution.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Population Stability Index (PSI): Binned distribution shift across 10 quantiles (PSI &gt; 0.25).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The Autocorrelation Hazard: Hourly wind speed has serial autocorrelation φ = 0.96. Normal weather fluctuations routinely yield KS p &lt; 1e-19.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Advisory Rule: If KS/PSI triggered retraining alone, it would cause &gt; 150 false alarms per year! Input drift is therefore accepted ONLY when corroborated by degraded accuracy (mean z &gt; μ₀ + 2σ₀).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Adaptive Learning Controller &amp; Sample Weighting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C3AED"/>
                </a:solidFill>
              </a:defRPr>
            </a:pPr>
            <a:r>
              <a:t>3 Core Design Principles Governing Model Updates (Section 5.7)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Sliding 4-Week Window (W = 672 hours): When an authorized alarm fires, the forecaster is retrained on the most recent 672 hours ending at the alarm step, allowing the model to naturally discard outdated operating regimes.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Exponential Recency Weighting: Each sample receives weight w_i = 2^(-(k - i) / 336), establishing a half-life of 2 weeks (336 hours) so recent observations receive greater mathematical emphasis.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Drift-Aware Change-Point Downweighting: Samples older than the estimated change point (i &lt; τ̂ - 12) are multiplied by penalty factor κ = 0.08 (12.5x downweighting). As a result, the few fresh post-drift observations dominate gradient boosting splits immediately after an alarm!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48-Hour Refractory Cooldown Guard: Locks retraining for 48 hours following an update, preventing alarm thrashing while the new model settles on the online 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Empirical Evaluation: 10-Seed Benchmark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Forecast Accuracy in Drift Scenario (Table 6.1 in Report)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Evaluated on 10 random seeds (80 weeks, 13,440 hourly evaluations per stream):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• Static Model: MAE = 134.7 ± 5.6 kW | RMSE = 178.4 ± 5.6 kW | nRMSE = 8.92% | Retrainings = 0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• Weekly Retrained: MAE = 35.3 ± 1.3 kW | RMSE = 62.7 ± 5.4 kW | nRMSE = 3.14% | Retrainings = 80.0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• Adaptive (Proposed): MAE = 33.7 ± 2.1 kW | RMSE = 53.0 ± 3.7 kW | nRMSE = 2.65% | Retrainings = 16.2 ± 6.6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Key Statistical Milestones: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75.0% Error Reduction over Static Baseline: MAE drops by 101.0 kW; paired t = 63.5, p = 3.0e-13 (Wilcoxon p = 0.0020).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Superior Accuracy to Weekly Retraining: 4.4% lower MAE and 15.5% lower RMSE with statistical significance (p = 0.014).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Consistent Performance: Error reduction fell between 72.6% and 76.4% across all 10 independent random seeds.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Computational Efficiency &amp; No-Drift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4.9× Computational Cost Reduction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Retraining Frequency: Adaptive model required only 16.2 retrains vs 80.0 for weekly schedule (4.9x fewer updates).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Cumulative Retraining Time: 1.98 ± 0.82 s vs 9.59 ± 0.53 s (4.9x less CPU compute).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Per-Step Monitoring Cost: Heteroscedastic error division and Page-Hinkley update take only 0.049 ms per hour  |  completely negligible for real-time SCADA deployment.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Hardware Independence: Entire 10-seed experiment completes in ~5 minutes on a standard laptop CPU; zero GPU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11D48"/>
                </a:solidFill>
              </a:defRPr>
            </a:pPr>
            <a:r>
              <a:t>No-Drift Control Scenario (Table 6.3)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Hypothesis H2 Verification: What happens when NO drift occurs?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Adaptive Model: ZERO alarms raised across all 10 seeds; 0 retrainings performed; forecasts match static model identically (MAE 25.5 kW).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Weekly Retraining Failure: Blind weekly updates worsened MAE to 33.2 kW (+30.2% error penalty!).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Root Cause: Short 4-week window lacks rare extreme wind states, inflating estimator variance when conditions are stationary.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Takeaway: Scheduled retraining is actively harmful during stationary regimes.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Detector Comparison &amp; Sensitivity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Detector Comparison (Table 6.7)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Page-Hinkley (Proposed): MAE 33.7 kW, Delay 19.4h, Retrains 15.2, 0.0 False Alarms. (Optimal balance).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CUSUM Detector: MAE 33.8 kW, Delay 12.6h, but 37.4 retrainings and 7.8 false alarms per no-drift run.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ADWIN (Adaptive Window): MAE 36.2 kW, Delay 40.6h, 1.6 false alarms (sensitive to heavy-tailed noise).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KS + PSI Only (No Error Check): 153.0 false alarms per run, Delay 128.6h, MAE 32.4 kW. Completely unusable on its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Sensitivity Sweeps (Sections 6.8-6.10)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Threshold λ: Usable Pareto frontier is 15σ₀ to 25σ₀. At 6σ₀, false alarms rise to 18.6; at 40σ₀, delay grows to 30.4h.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Cooldown Guard: 48h baseline provides robust compromise against alarm thrashing (15.2 retrains vs 22.0 at 12h).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Retraining Window: 4 to 8 weeks perform identically (32.9-33.7 kW); 2-week window degrades to 38.3 kW.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Drift Magnitude: Benefit scales non-linearly: 15% gain at mag 0.25, 53% at 0.5, 75% at 1.0, 83% at 1.5. Subtle shifts (&lt;= 0.1) are safely ignored.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Full-Stack SCADA Platform: Login Portal &amp; Live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login_access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474720"/>
          </a:xfrm>
          <a:prstGeom prst="rect">
            <a:avLst/>
          </a:prstGeom>
        </p:spPr>
      </p:pic>
      <p:pic>
        <p:nvPicPr>
          <p:cNvPr id="6" name="Picture 5" descr="02_overview_dashboard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7492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SCADA Login &amp; Role Access Portal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Panimalar AI/ML academic branding with Examiner &amp; Operator roles and 1-Click Quick Demo Access for viva exams.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7492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Executive Live Overview Dashboard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Real-time generation hero gauge (kW), 3 colorful KPI cards, capacity factor gauge (0-2000 kW), and drift onset tracking.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Full-Stack SCADA Platform: Studio &amp; Model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forecasting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474720"/>
          </a:xfrm>
          <a:prstGeom prst="rect">
            <a:avLst/>
          </a:prstGeom>
        </p:spPr>
      </p:pic>
      <p:pic>
        <p:nvPicPr>
          <p:cNvPr id="6" name="Picture 5" descr="07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7492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Forecasting Studio &amp; Model Workbench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1-Click weather presets (🍃 Light, 💨 Moderate, ⚡ Gale), interactive SCADA sliders, and 90% confidence intervals.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74920"/>
            <a:ext cx="5212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Baseline Model Comparison &amp; Statistical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 pastel comparison cards (Static in Rose, Adaptive in Mint, Weekly in Sky), paired t-test (p &lt; 0.05), and compute bars.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Alignment with UN Sustainable Development Goals (SDGs)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SDG 7: Affordable &amp; Clean Energy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Target 7.2: Increase global share of renewable energy.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Impact: Accurate 1h-ahead wind forecasting minimizes reserve curtailment, enabling higher penetration of clean wind power into national grids at lower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SDG 13: Climate Action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Target 13.2: Integrate climate measures into national policies.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Impact: Mitigates reliance on fast-ramping fossil/coal peaker plants, directly reducing grid carbon emissions; alerts operators early to mechanical wear.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SDG 9: Industry, Innovation &amp; Infrastructure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Target 9.4: Upgrade infrastructure with clean technologies.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Impact: Provides a lightweight, drop-in Python/React SCADA layer that modernizes existing wind farms without requiring expensive GPU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SDG 12: Responsible Consumption &amp; Production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Target 12.2: Sustainable management &amp; efficient resource use.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Impact: Eliminates wasteful 80-week scheduled compute (4.9x reduction in CPU energy and carbon footprint for AI inference).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TEAM B14  |  FINAL YEAR CAPSTONE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411480"/>
            <a:ext cx="17373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Project Conclusions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Evidence-Driven Adaptation Validated: Concept drift detection on scale-standardized residuals delivers 75.0% error reduction under abrupt turbine derating and wake loss.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Efficiency Superiority: Matches or exceeds weekly retraining accuracy while demanding 4.9x less CPU compute and zero GPU hardware.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Zero False Alarms: Page-Hinkley detector with heteroscedastic standardization raised 0 false alarms across 10 independent random seeds.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Ready for Deployment: Complete full-stack SCADA dashboard with interactive login access portal and 100% test coverage (29/29 tests).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Future Scope &amp; Extensions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1. Multi-Season Measured Data: Validate pipeline on real-world multi-year SCADA datasets (e.g. NREL / Kelmarsh wind farms).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2. Gradual &amp; Incremental Drift: Extend change-point estimation to detect subtle blade icing and slow bearing wear.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3. Probabilistic &amp; Quantile Forecasting: Extend point predictions to full quantile densities (CRPS scoring) for risk-aware bidding.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4. Spatial Farm-to-Farm Transfer: Transfer drift-learned representations to newly commissioned adjacent wind farms.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Adaptive Wind Power Forecasting Using Concept Drift Detection | Panimalar Engineering College | Slide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