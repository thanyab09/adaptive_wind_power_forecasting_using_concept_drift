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0" y="640080"/>
            <a:ext cx="10362895" cy="557784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0" lIns="548640" rIns="548640"/>
          <a:lstStyle/>
          <a:p>
            <a:pPr algn="ctr">
              <a:defRPr sz="1800" b="1" i="0">
                <a:solidFill>
                  <a:srgbClr val="0F172A"/>
                </a:solidFill>
                <a:latin typeface="Calibri"/>
              </a:defRPr>
            </a:pPr>
            <a:r>
              <a:t>PANIMALAR ENGINEERING COLLEGE</a:t>
            </a:r>
          </a:p>
          <a:p>
            <a:pPr algn="ctr">
              <a:spcAft>
                <a:spcPts val="1600"/>
              </a:spcAft>
              <a:defRPr sz="1300" b="0" i="0">
                <a:solidFill>
                  <a:srgbClr val="64748B"/>
                </a:solidFill>
                <a:latin typeface="Calibri"/>
              </a:defRPr>
            </a:pPr>
            <a:r>
              <a:t>An Autonomous Institution, Affiliated to Anna University, Chennai</a:t>
            </a:r>
            <a:br/>
            <a:r>
              <a:t>Department of Artificial Intelligence &amp; Machine Learning</a:t>
            </a:r>
          </a:p>
          <a:p>
            <a:pPr algn="ctr">
              <a:spcAft>
                <a:spcPts val="800"/>
              </a:spcAft>
              <a:defRPr sz="2600" b="1" i="0">
                <a:solidFill>
                  <a:srgbClr val="0D9488"/>
                </a:solidFill>
                <a:latin typeface="Calibri"/>
              </a:defRPr>
            </a:pPr>
            <a:r>
              <a:t>ADAPTIVE WIND POWER FORECASTING</a:t>
            </a:r>
            <a:br/>
            <a:r>
              <a:t>USING CONCEPT DRIFT DETECTION</a:t>
            </a:r>
          </a:p>
          <a:p>
            <a:pPr algn="ctr">
              <a:defRPr sz="1400" b="0" i="1">
                <a:solidFill>
                  <a:srgbClr val="64748B"/>
                </a:solidFill>
                <a:latin typeface="Calibri"/>
              </a:defRPr>
            </a:pPr>
            <a:r>
              <a:t>Final-Year B.Tech Capstone Project Presentation | October 2026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645920" y="4114800"/>
            <a:ext cx="8899855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182880"/>
          <a:lstStyle/>
          <a:p>
            <a:pPr algn="ctr">
              <a:defRPr sz="1400" b="1" i="0">
                <a:solidFill>
                  <a:srgbClr val="E11D48"/>
                </a:solidFill>
                <a:latin typeface="Calibri"/>
              </a:defRPr>
            </a:pPr>
            <a:r>
              <a:t>TEAM : B14</a:t>
            </a:r>
          </a:p>
          <a:p>
            <a:pPr>
              <a:spcAft>
                <a:spcPts val="400"/>
              </a:spcAft>
              <a:defRPr sz="1350" b="1" i="0">
                <a:solidFill>
                  <a:srgbClr val="0F172A"/>
                </a:solidFill>
                <a:latin typeface="Calibri"/>
              </a:defRPr>
            </a:pPr>
            <a:r>
              <a:t>Candidates:   1. THANYA B  [Reg No: 211423247227]      2. THEJESSRI S  [Reg No: 211423247229]</a:t>
            </a:r>
          </a:p>
          <a:p>
            <a:pPr>
              <a:defRPr sz="1300" b="0" i="0">
                <a:solidFill>
                  <a:srgbClr val="1E293B"/>
                </a:solidFill>
                <a:latin typeface="Calibri"/>
              </a:defRPr>
            </a:pPr>
            <a:r>
              <a:t>Supervisor:    Mr. M. Ezhilvendhan, M.E., Assistant Professor</a:t>
            </a:r>
          </a:p>
          <a:p>
            <a:pPr>
              <a:defRPr sz="1300" b="0" i="0">
                <a:solidFill>
                  <a:srgbClr val="1E293B"/>
                </a:solidFill>
                <a:latin typeface="Calibri"/>
              </a:defRPr>
            </a:pPr>
            <a:r>
              <a:t>Head of Dept: Dr. G. Suresh, M.Tech., Ph.D., Professor &amp; HoD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8778240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 i="0">
                <a:solidFill>
                  <a:srgbClr val="0D9488"/>
                </a:solidFill>
                <a:latin typeface="Calibri"/>
              </a:defRPr>
            </a:pPr>
            <a:r>
              <a:t>TEAM B14 | FINAL YEAR CAPSTONE</a:t>
            </a:r>
          </a:p>
          <a:p>
            <a:pPr>
              <a:defRPr sz="2200" b="1" i="0">
                <a:solidFill>
                  <a:srgbClr val="0F172A"/>
                </a:solidFill>
                <a:latin typeface="Calibri"/>
              </a:defRPr>
            </a:pPr>
            <a:r>
              <a:t>Presentation Outline &amp; Executive Roadmap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692640" y="384048"/>
            <a:ext cx="1737360" cy="5943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 i="0">
                <a:solidFill>
                  <a:srgbClr val="0D9488"/>
                </a:solidFill>
                <a:latin typeface="Calibri"/>
              </a:defRPr>
            </a:pPr>
            <a:r>
              <a:t>TEAM: B14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10728655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446520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0" i="1">
                <a:solidFill>
                  <a:srgbClr val="64748B"/>
                </a:solidFill>
                <a:latin typeface="Calibri"/>
              </a:defRPr>
            </a:pPr>
            <a:r>
              <a:t>Adaptive Wind Power Forecasting Using Concept Drift Detection | Panimalar Engineering College | Slide 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508760"/>
            <a:ext cx="5212080" cy="22402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E11D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64592"/>
          <a:lstStyle/>
          <a:p>
            <a:pPr algn="ctr">
              <a:spcAft>
                <a:spcPts val="800"/>
              </a:spcAft>
              <a:defRPr sz="1500" b="1" i="0">
                <a:solidFill>
                  <a:srgbClr val="E11D48"/>
                </a:solidFill>
                <a:latin typeface="Calibri"/>
              </a:defRPr>
            </a:pPr>
            <a:r>
              <a:t>01  AERODYNAMICS &amp; DRIFT MOTIVATION</a:t>
            </a:r>
          </a:p>
          <a:p>
            <a:pPr>
              <a:spcAft>
                <a:spcPts val="300"/>
              </a:spcAft>
              <a:defRPr sz="1350" b="0" i="0">
                <a:solidFill>
                  <a:srgbClr val="1E293B"/>
                </a:solidFill>
                <a:latin typeface="Calibri"/>
              </a:defRPr>
            </a:pPr>
            <a:r>
              <a:t>• Cubic power law: P = 1/2 rho A Cp v^3</a:t>
            </a:r>
          </a:p>
          <a:p>
            <a:pPr>
              <a:spcAft>
                <a:spcPts val="300"/>
              </a:spcAft>
              <a:defRPr sz="1350" b="0" i="0">
                <a:solidFill>
                  <a:srgbClr val="1E293B"/>
                </a:solidFill>
                <a:latin typeface="Calibri"/>
              </a:defRPr>
            </a:pPr>
            <a:r>
              <a:t>• Real vs Virtual Concept Drift taxonomy</a:t>
            </a:r>
          </a:p>
          <a:p>
            <a:pPr>
              <a:spcAft>
                <a:spcPts val="300"/>
              </a:spcAft>
              <a:defRPr sz="1350" b="0" i="0">
                <a:solidFill>
                  <a:srgbClr val="1E293B"/>
                </a:solidFill>
                <a:latin typeface="Calibri"/>
              </a:defRPr>
            </a:pPr>
            <a:r>
              <a:t>• Failure of static models &amp; blind periodic retraining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508760"/>
            <a:ext cx="5212080" cy="22402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64592"/>
          <a:lstStyle/>
          <a:p>
            <a:pPr algn="ctr">
              <a:spcAft>
                <a:spcPts val="800"/>
              </a:spcAft>
              <a:defRPr sz="1500" b="1" i="0">
                <a:solidFill>
                  <a:srgbClr val="2563EB"/>
                </a:solidFill>
                <a:latin typeface="Calibri"/>
              </a:defRPr>
            </a:pPr>
            <a:r>
              <a:t>02  CORE METHODOLOGY &amp; ARCHITECTURE</a:t>
            </a:r>
          </a:p>
          <a:p>
            <a:pPr>
              <a:spcAft>
                <a:spcPts val="300"/>
              </a:spcAft>
              <a:defRPr sz="1350" b="0" i="0">
                <a:solidFill>
                  <a:srgbClr val="1E293B"/>
                </a:solidFill>
                <a:latin typeface="Calibri"/>
              </a:defRPr>
            </a:pPr>
            <a:r>
              <a:t>• 7-Module end-to-end operational pipeline</a:t>
            </a:r>
          </a:p>
          <a:p>
            <a:pPr>
              <a:spcAft>
                <a:spcPts val="300"/>
              </a:spcAft>
              <a:defRPr sz="1350" b="0" i="0">
                <a:solidFill>
                  <a:srgbClr val="1E293B"/>
                </a:solidFill>
                <a:latin typeface="Calibri"/>
              </a:defRPr>
            </a:pPr>
            <a:r>
              <a:t>• 10 Engineered meteorological features &amp; HistGradientBoosting</a:t>
            </a:r>
          </a:p>
          <a:p>
            <a:pPr>
              <a:spcAft>
                <a:spcPts val="300"/>
              </a:spcAft>
              <a:defRPr sz="1350" b="0" i="0">
                <a:solidFill>
                  <a:srgbClr val="1E293B"/>
                </a:solidFill>
                <a:latin typeface="Calibri"/>
              </a:defRPr>
            </a:pPr>
            <a:r>
              <a:t>• 6-Quantile heteroscedastic error calibration mechanism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931920"/>
            <a:ext cx="5212080" cy="22402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64592"/>
          <a:lstStyle/>
          <a:p>
            <a:pPr algn="ctr">
              <a:spcAft>
                <a:spcPts val="800"/>
              </a:spcAft>
              <a:defRPr sz="1500" b="1" i="0">
                <a:solidFill>
                  <a:srgbClr val="D97706"/>
                </a:solidFill>
                <a:latin typeface="Calibri"/>
              </a:defRPr>
            </a:pPr>
            <a:r>
              <a:t>03  DUAL-CHANNEL DETECTION &amp; ADAPTATION</a:t>
            </a:r>
          </a:p>
          <a:p>
            <a:pPr>
              <a:spcAft>
                <a:spcPts val="300"/>
              </a:spcAft>
              <a:defRPr sz="1350" b="0" i="0">
                <a:solidFill>
                  <a:srgbClr val="1E293B"/>
                </a:solidFill>
                <a:latin typeface="Calibri"/>
              </a:defRPr>
            </a:pPr>
            <a:r>
              <a:t>• Online Page-Hinkley cumulative sum detector (lambda=12.0)</a:t>
            </a:r>
          </a:p>
          <a:p>
            <a:pPr>
              <a:spcAft>
                <a:spcPts val="300"/>
              </a:spcAft>
              <a:defRPr sz="1350" b="0" i="0">
                <a:solidFill>
                  <a:srgbClr val="1E293B"/>
                </a:solidFill>
                <a:latin typeface="Calibri"/>
              </a:defRPr>
            </a:pPr>
            <a:r>
              <a:t>• Daily Kolmogorov-Smirnov &amp; PSI advisory monitor</a:t>
            </a:r>
          </a:p>
          <a:p>
            <a:pPr>
              <a:spcAft>
                <a:spcPts val="300"/>
              </a:spcAft>
              <a:defRPr sz="1350" b="0" i="0">
                <a:solidFill>
                  <a:srgbClr val="1E293B"/>
                </a:solidFill>
                <a:latin typeface="Calibri"/>
              </a:defRPr>
            </a:pPr>
            <a:r>
              <a:t>• Adaptive memory window (672h) &amp; 0.08x sample downweighting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3931920"/>
            <a:ext cx="5212080" cy="22402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64592"/>
          <a:lstStyle/>
          <a:p>
            <a:pPr algn="ctr">
              <a:spcAft>
                <a:spcPts val="800"/>
              </a:spcAft>
              <a:defRPr sz="1500" b="1" i="0">
                <a:solidFill>
                  <a:srgbClr val="059669"/>
                </a:solidFill>
                <a:latin typeface="Calibri"/>
              </a:defRPr>
            </a:pPr>
            <a:r>
              <a:t>04  EMPIRICAL BENCHMARKS &amp; SCADA UI</a:t>
            </a:r>
          </a:p>
          <a:p>
            <a:pPr>
              <a:spcAft>
                <a:spcPts val="300"/>
              </a:spcAft>
              <a:defRPr sz="1350" b="0" i="0">
                <a:solidFill>
                  <a:srgbClr val="1E293B"/>
                </a:solidFill>
                <a:latin typeface="Calibri"/>
              </a:defRPr>
            </a:pPr>
            <a:r>
              <a:t>• 75.0% MAE Error Reduction over 10 random seeds (p &lt; 0.001)</a:t>
            </a:r>
          </a:p>
          <a:p>
            <a:pPr>
              <a:spcAft>
                <a:spcPts val="300"/>
              </a:spcAft>
              <a:defRPr sz="1350" b="0" i="0">
                <a:solidFill>
                  <a:srgbClr val="1E293B"/>
                </a:solidFill>
                <a:latin typeface="Calibri"/>
              </a:defRPr>
            </a:pPr>
            <a:r>
              <a:t>• 4.9x Compute Saving with 0 false alarms in stationary control</a:t>
            </a:r>
          </a:p>
          <a:p>
            <a:pPr>
              <a:spcAft>
                <a:spcPts val="300"/>
              </a:spcAft>
              <a:defRPr sz="1350" b="0" i="0">
                <a:solidFill>
                  <a:srgbClr val="1E293B"/>
                </a:solidFill>
                <a:latin typeface="Calibri"/>
              </a:defRPr>
            </a:pPr>
            <a:r>
              <a:t>• Live Full-Stack SCADA UI &amp; UN SDG alignment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8778240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 i="0">
                <a:solidFill>
                  <a:srgbClr val="0D9488"/>
                </a:solidFill>
                <a:latin typeface="Calibri"/>
              </a:defRPr>
            </a:pPr>
            <a:r>
              <a:t>TEAM B14 | FINAL YEAR CAPSTONE</a:t>
            </a:r>
          </a:p>
          <a:p>
            <a:pPr>
              <a:defRPr sz="2200" b="1" i="0">
                <a:solidFill>
                  <a:srgbClr val="0F172A"/>
                </a:solidFill>
                <a:latin typeface="Calibri"/>
              </a:defRPr>
            </a:pPr>
            <a:r>
              <a:t>Aerodynamic Cubic Power Law &amp; Error Amplification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692640" y="384048"/>
            <a:ext cx="1737360" cy="5943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 i="0">
                <a:solidFill>
                  <a:srgbClr val="0D9488"/>
                </a:solidFill>
                <a:latin typeface="Calibri"/>
              </a:defRPr>
            </a:pPr>
            <a:r>
              <a:t>TEAM: B14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10728655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446520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0" i="1">
                <a:solidFill>
                  <a:srgbClr val="64748B"/>
                </a:solidFill>
                <a:latin typeface="Calibri"/>
              </a:defRPr>
            </a:pPr>
            <a:r>
              <a:t>Adaptive Wind Power Forecasting Using Concept Drift Detection | Panimalar Engineering College | Slide 3</a:t>
            </a:r>
          </a:p>
        </p:txBody>
      </p:sp>
      <p:pic>
        <p:nvPicPr>
          <p:cNvPr id="6" name="Picture 5" descr="chart_01_power_cu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463040"/>
            <a:ext cx="6583680" cy="3717843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498079" y="1463040"/>
            <a:ext cx="3962095" cy="47091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ctr">
              <a:spcAft>
                <a:spcPts val="800"/>
              </a:spcAft>
              <a:defRPr sz="1600" b="1" i="0">
                <a:solidFill>
                  <a:srgbClr val="2563EB"/>
                </a:solidFill>
                <a:latin typeface="Calibri"/>
              </a:defRPr>
            </a:pPr>
            <a:r>
              <a:t>Non-Linear Physics</a:t>
            </a:r>
          </a:p>
          <a:p>
            <a:pPr>
              <a:spcAft>
                <a:spcPts val="600"/>
              </a:spcAft>
              <a:defRPr sz="1400" b="0" i="0">
                <a:solidFill>
                  <a:srgbClr val="1E293B"/>
                </a:solidFill>
                <a:latin typeface="Calibri"/>
              </a:defRPr>
            </a:pPr>
            <a:r>
              <a:t>• Kinetic Wind Power Equation:</a:t>
            </a:r>
            <a:br/>
            <a:r>
              <a:t>  P = 1/2 * rho * A * Cp * v^3</a:t>
            </a:r>
          </a:p>
          <a:p>
            <a:pPr>
              <a:spcAft>
                <a:spcPts val="600"/>
              </a:spcAft>
              <a:defRPr sz="1400" b="0" i="0">
                <a:solidFill>
                  <a:srgbClr val="1E293B"/>
                </a:solidFill>
                <a:latin typeface="Calibri"/>
              </a:defRPr>
            </a:pPr>
            <a:r>
              <a:t>• Cubic Amplification:</a:t>
            </a:r>
            <a:br/>
            <a:r>
              <a:t>Power scales with the CUBE of velocity. A small 10% wind speed error magnifies into a ~33% power discrepancy!</a:t>
            </a:r>
          </a:p>
          <a:p>
            <a:pPr>
              <a:spcAft>
                <a:spcPts val="600"/>
              </a:spcAft>
              <a:defRPr sz="1400" b="0" i="0">
                <a:solidFill>
                  <a:srgbClr val="1E293B"/>
                </a:solidFill>
                <a:latin typeface="Calibri"/>
              </a:defRPr>
            </a:pPr>
            <a:r>
              <a:t>• Three Operational Regimes:</a:t>
            </a:r>
            <a:br/>
            <a:r>
              <a:t>• Cut-in Speed: 3 m/s (start)</a:t>
            </a:r>
            <a:br/>
            <a:r>
              <a:t>• Rated Speed: 12 m/s (2000 kW)</a:t>
            </a:r>
            <a:br/>
            <a:r>
              <a:t>• Cut-out Speed: 25 m/s (feather)</a:t>
            </a:r>
          </a:p>
          <a:p>
            <a:pPr>
              <a:spcAft>
                <a:spcPts val="600"/>
              </a:spcAft>
              <a:defRPr sz="1400" b="0" i="0">
                <a:solidFill>
                  <a:srgbClr val="1E293B"/>
                </a:solidFill>
                <a:latin typeface="Calibri"/>
              </a:defRPr>
            </a:pPr>
            <a:r>
              <a:t>• Grid Impact:</a:t>
            </a:r>
            <a:br/>
            <a:r>
              <a:t>Unforecasted wind fluctuations trigger severe spinning reserve costs and transmission grid stability penalties.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8778240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 i="0">
                <a:solidFill>
                  <a:srgbClr val="0D9488"/>
                </a:solidFill>
                <a:latin typeface="Calibri"/>
              </a:defRPr>
            </a:pPr>
            <a:r>
              <a:t>TEAM B14 | FINAL YEAR CAPSTONE</a:t>
            </a:r>
          </a:p>
          <a:p>
            <a:pPr>
              <a:defRPr sz="2200" b="1" i="0">
                <a:solidFill>
                  <a:srgbClr val="0F172A"/>
                </a:solidFill>
                <a:latin typeface="Calibri"/>
              </a:defRPr>
            </a:pPr>
            <a:r>
              <a:t>Concept Drift Taxonomy: Real Drift vs Virtual Drift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692640" y="384048"/>
            <a:ext cx="1737360" cy="5943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 i="0">
                <a:solidFill>
                  <a:srgbClr val="0D9488"/>
                </a:solidFill>
                <a:latin typeface="Calibri"/>
              </a:defRPr>
            </a:pPr>
            <a:r>
              <a:t>TEAM: B14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10728655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446520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0" i="1">
                <a:solidFill>
                  <a:srgbClr val="64748B"/>
                </a:solidFill>
                <a:latin typeface="Calibri"/>
              </a:defRPr>
            </a:pPr>
            <a:r>
              <a:t>Adaptive Wind Power Forecasting Using Concept Drift Detection | Panimalar Engineering College | Slide 4</a:t>
            </a:r>
          </a:p>
        </p:txBody>
      </p:sp>
      <p:pic>
        <p:nvPicPr>
          <p:cNvPr id="6" name="Picture 5" descr="chart_02_concept_drif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463040"/>
            <a:ext cx="6583680" cy="3717843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498079" y="1463040"/>
            <a:ext cx="3962095" cy="2286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11D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ctr">
              <a:spcAft>
                <a:spcPts val="800"/>
              </a:spcAft>
              <a:defRPr sz="1600" b="1" i="0">
                <a:solidFill>
                  <a:srgbClr val="E11D48"/>
                </a:solidFill>
                <a:latin typeface="Calibri"/>
              </a:defRPr>
            </a:pPr>
            <a:r>
              <a:t>1. Real Concept Drift: P(y|x) Shifts</a:t>
            </a:r>
          </a:p>
          <a:p>
            <a:pPr>
              <a:spcAft>
                <a:spcPts val="600"/>
              </a:spcAft>
              <a:defRPr sz="1400" b="0" i="0">
                <a:solidFill>
                  <a:srgbClr val="1E293B"/>
                </a:solidFill>
                <a:latin typeface="Calibri"/>
              </a:defRPr>
            </a:pPr>
            <a:r>
              <a:t>• Physical changes alter power generation for the SAME wind speed:</a:t>
            </a:r>
          </a:p>
          <a:p>
            <a:pPr>
              <a:spcAft>
                <a:spcPts val="600"/>
              </a:spcAft>
              <a:defRPr sz="1400" b="0" i="0">
                <a:solidFill>
                  <a:srgbClr val="1E293B"/>
                </a:solidFill>
                <a:latin typeface="Calibri"/>
              </a:defRPr>
            </a:pPr>
            <a:r>
              <a:t>• • Blade Roughness &amp; Erosion: Degrades aerodynamic lift (-14% yield).</a:t>
            </a:r>
          </a:p>
          <a:p>
            <a:pPr>
              <a:spcAft>
                <a:spcPts val="600"/>
              </a:spcAft>
              <a:defRPr sz="1400" b="0" i="0">
                <a:solidFill>
                  <a:srgbClr val="1E293B"/>
                </a:solidFill>
                <a:latin typeface="Calibri"/>
              </a:defRPr>
            </a:pPr>
            <a:r>
              <a:t>• • Downwind Wake Shadowing: Neighboring turbines create directional turbulence.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3886200"/>
            <a:ext cx="3962095" cy="2286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ctr">
              <a:spcAft>
                <a:spcPts val="800"/>
              </a:spcAft>
              <a:defRPr sz="1600" b="1" i="0">
                <a:solidFill>
                  <a:srgbClr val="0284C7"/>
                </a:solidFill>
                <a:latin typeface="Calibri"/>
              </a:defRPr>
            </a:pPr>
            <a:r>
              <a:t>2. Virtual Concept Drift: P(x) Shifts</a:t>
            </a:r>
          </a:p>
          <a:p>
            <a:pPr>
              <a:spcAft>
                <a:spcPts val="600"/>
              </a:spcAft>
              <a:defRPr sz="1400" b="0" i="0">
                <a:solidFill>
                  <a:srgbClr val="1E293B"/>
                </a:solidFill>
                <a:latin typeface="Calibri"/>
              </a:defRPr>
            </a:pPr>
            <a:r>
              <a:t>• Atmospheric distribution changes while underlying turbine physics stay constant:</a:t>
            </a:r>
          </a:p>
          <a:p>
            <a:pPr>
              <a:spcAft>
                <a:spcPts val="600"/>
              </a:spcAft>
              <a:defRPr sz="1400" b="0" i="0">
                <a:solidFill>
                  <a:srgbClr val="1E293B"/>
                </a:solidFill>
                <a:latin typeface="Calibri"/>
              </a:defRPr>
            </a:pPr>
            <a:r>
              <a:t>• • Seasonal Climate Regimes: Winter gales vs calm summer lulls.</a:t>
            </a:r>
          </a:p>
          <a:p>
            <a:pPr>
              <a:spcAft>
                <a:spcPts val="600"/>
              </a:spcAft>
              <a:defRPr sz="1400" b="0" i="0">
                <a:solidFill>
                  <a:srgbClr val="1E293B"/>
                </a:solidFill>
                <a:latin typeface="Calibri"/>
              </a:defRPr>
            </a:pPr>
            <a:r>
              <a:t>• • Anemometer Recalibration: Speed sensor shifts without physical power loss.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8778240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 i="0">
                <a:solidFill>
                  <a:srgbClr val="0D9488"/>
                </a:solidFill>
                <a:latin typeface="Calibri"/>
              </a:defRPr>
            </a:pPr>
            <a:r>
              <a:t>TEAM B14 | FINAL YEAR CAPSTONE</a:t>
            </a:r>
          </a:p>
          <a:p>
            <a:pPr>
              <a:defRPr sz="2200" b="1" i="0">
                <a:solidFill>
                  <a:srgbClr val="0F172A"/>
                </a:solidFill>
                <a:latin typeface="Calibri"/>
              </a:defRPr>
            </a:pPr>
            <a:r>
              <a:t>Problem Statement: Limitations of Conventional Practice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692640" y="384048"/>
            <a:ext cx="1737360" cy="5943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 i="0">
                <a:solidFill>
                  <a:srgbClr val="0D9488"/>
                </a:solidFill>
                <a:latin typeface="Calibri"/>
              </a:defRPr>
            </a:pPr>
            <a:r>
              <a:t>TEAM: B14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10728655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446520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0" i="1">
                <a:solidFill>
                  <a:srgbClr val="64748B"/>
                </a:solidFill>
                <a:latin typeface="Calibri"/>
              </a:defRPr>
            </a:pPr>
            <a:r>
              <a:t>Adaptive Wind Power Forecasting Using Concept Drift Detection | Panimalar Engineering College | Slide 5</a:t>
            </a:r>
          </a:p>
        </p:txBody>
      </p:sp>
      <p:pic>
        <p:nvPicPr>
          <p:cNvPr id="6" name="Picture 5" descr="07_model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463040"/>
            <a:ext cx="6400800" cy="426720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315200" y="1463040"/>
            <a:ext cx="4114800" cy="2286000"/>
          </a:xfrm>
          <a:prstGeom prst="roundRect">
            <a:avLst/>
          </a:prstGeom>
          <a:solidFill>
            <a:srgbClr val="FFF1F2"/>
          </a:solidFill>
          <a:ln w="19050">
            <a:solidFill>
              <a:srgbClr val="E11D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ctr">
              <a:spcAft>
                <a:spcPts val="800"/>
              </a:spcAft>
              <a:defRPr sz="1600" b="1" i="0">
                <a:solidFill>
                  <a:srgbClr val="E11D48"/>
                </a:solidFill>
                <a:latin typeface="Calibri"/>
              </a:defRPr>
            </a:pPr>
            <a:r>
              <a:t>1. Train-Once Static Model</a:t>
            </a:r>
          </a:p>
          <a:p>
            <a:pPr>
              <a:spcAft>
                <a:spcPts val="600"/>
              </a:spcAft>
              <a:defRPr sz="1400" b="0" i="0">
                <a:solidFill>
                  <a:srgbClr val="1E293B"/>
                </a:solidFill>
                <a:latin typeface="Calibri"/>
              </a:defRPr>
            </a:pPr>
            <a:r>
              <a:t>• Silent Catastrophic Degradation:</a:t>
            </a:r>
            <a:br/>
            <a:r>
              <a:t>When physical blade degradation occurs, the static model over-predicts by +107 kW.</a:t>
            </a:r>
          </a:p>
          <a:p>
            <a:pPr>
              <a:spcAft>
                <a:spcPts val="600"/>
              </a:spcAft>
              <a:defRPr sz="1400" b="0" i="0">
                <a:solidFill>
                  <a:srgbClr val="1E293B"/>
                </a:solidFill>
                <a:latin typeface="Calibri"/>
              </a:defRPr>
            </a:pPr>
            <a:r>
              <a:t>• Severe Market Penalties:</a:t>
            </a:r>
            <a:br/>
            <a:r>
              <a:t>Post-drift error surges to 139.98 kW MAE (9.33% capacity loss) causing grid imbalance fines.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0" y="3886200"/>
            <a:ext cx="4114800" cy="2286000"/>
          </a:xfrm>
          <a:prstGeom prst="roundRect">
            <a:avLst/>
          </a:prstGeom>
          <a:solidFill>
            <a:srgbClr val="EFF6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ctr">
              <a:spcAft>
                <a:spcPts val="800"/>
              </a:spcAft>
              <a:defRPr sz="1600" b="1" i="0">
                <a:solidFill>
                  <a:srgbClr val="2563EB"/>
                </a:solidFill>
                <a:latin typeface="Calibri"/>
              </a:defRPr>
            </a:pPr>
            <a:r>
              <a:t>2. Blind Weekly Retraining</a:t>
            </a:r>
          </a:p>
          <a:p>
            <a:pPr>
              <a:spcAft>
                <a:spcPts val="600"/>
              </a:spcAft>
              <a:defRPr sz="1400" b="0" i="0">
                <a:solidFill>
                  <a:srgbClr val="1E293B"/>
                </a:solidFill>
                <a:latin typeface="Calibri"/>
              </a:defRPr>
            </a:pPr>
            <a:r>
              <a:t>• Wasted Compute Overhead:</a:t>
            </a:r>
            <a:br/>
            <a:r>
              <a:t>Executes 78 retraining jobs over 80 weeks (4.9x wasted CPU and carbon emissions).</a:t>
            </a:r>
          </a:p>
          <a:p>
            <a:pPr>
              <a:spcAft>
                <a:spcPts val="600"/>
              </a:spcAft>
              <a:defRPr sz="1400" b="0" i="0">
                <a:solidFill>
                  <a:srgbClr val="1E293B"/>
                </a:solidFill>
                <a:latin typeface="Calibri"/>
              </a:defRPr>
            </a:pPr>
            <a:r>
              <a:t>• Noise Fitting:</a:t>
            </a:r>
            <a:br/>
            <a:r>
              <a:t>Retraining during stationary regimes overfits short-term weather anomalies instead of true drift.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8778240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 i="0">
                <a:solidFill>
                  <a:srgbClr val="0D9488"/>
                </a:solidFill>
                <a:latin typeface="Calibri"/>
              </a:defRPr>
            </a:pPr>
            <a:r>
              <a:t>TEAM B14 | FINAL YEAR CAPSTONE</a:t>
            </a:r>
          </a:p>
          <a:p>
            <a:pPr>
              <a:defRPr sz="2200" b="1" i="0">
                <a:solidFill>
                  <a:srgbClr val="0F172A"/>
                </a:solidFill>
                <a:latin typeface="Calibri"/>
              </a:defRPr>
            </a:pPr>
            <a:r>
              <a:t>Research Questions &amp; Testable Hypotheses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692640" y="384048"/>
            <a:ext cx="1737360" cy="5943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 i="0">
                <a:solidFill>
                  <a:srgbClr val="0D9488"/>
                </a:solidFill>
                <a:latin typeface="Calibri"/>
              </a:defRPr>
            </a:pPr>
            <a:r>
              <a:t>TEAM: B14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10728655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446520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0" i="1">
                <a:solidFill>
                  <a:srgbClr val="64748B"/>
                </a:solidFill>
                <a:latin typeface="Calibri"/>
              </a:defRPr>
            </a:pPr>
            <a:r>
              <a:t>Adaptive Wind Power Forecasting Using Concept Drift Detection | Panimalar Engineering College | Slide 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508760"/>
            <a:ext cx="5212080" cy="22402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228600" tIns="164592"/>
          <a:lstStyle/>
          <a:p>
            <a:pPr algn="ctr">
              <a:defRPr sz="1500" b="1" i="0">
                <a:solidFill>
                  <a:srgbClr val="059669"/>
                </a:solidFill>
                <a:latin typeface="Calibri"/>
              </a:defRPr>
            </a:pPr>
            <a:r>
              <a:t>H1: FORECAST ACCURACY</a:t>
            </a:r>
          </a:p>
          <a:p>
            <a:pPr>
              <a:spcAft>
                <a:spcPts val="400"/>
              </a:spcAft>
              <a:defRPr sz="2000" b="1" i="0">
                <a:solidFill>
                  <a:srgbClr val="0F172A"/>
                </a:solidFill>
                <a:latin typeface="Calibri"/>
              </a:defRPr>
            </a:pPr>
            <a:r>
              <a:t>75.0% MAE REDUCTION</a:t>
            </a:r>
          </a:p>
          <a:p>
            <a:pPr>
              <a:defRPr sz="1300" b="0" i="1">
                <a:solidFill>
                  <a:srgbClr val="64748B"/>
                </a:solidFill>
                <a:latin typeface="Calibri"/>
              </a:defRPr>
            </a:pPr>
            <a:r>
              <a:t>Q: Does drift-adaptive retraining achieve statistically superior accuracy (p &lt; 0.05) over static models?</a:t>
            </a:r>
          </a:p>
          <a:p>
            <a:pPr>
              <a:defRPr sz="1350" b="1" i="0">
                <a:solidFill>
                  <a:srgbClr val="059669"/>
                </a:solidFill>
                <a:latin typeface="Calibri"/>
              </a:defRPr>
            </a:pPr>
            <a:r>
              <a:t>Result: Static: 139.98 kW  -&gt;  Adaptive: 35.03 kW (p = 3.0 x 10^-13)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508760"/>
            <a:ext cx="5212080" cy="22402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228600" tIns="164592"/>
          <a:lstStyle/>
          <a:p>
            <a:pPr algn="ctr">
              <a:defRPr sz="1500" b="1" i="0">
                <a:solidFill>
                  <a:srgbClr val="2563EB"/>
                </a:solidFill>
                <a:latin typeface="Calibri"/>
              </a:defRPr>
            </a:pPr>
            <a:r>
              <a:t>H2: RETRAINING STABILITY</a:t>
            </a:r>
          </a:p>
          <a:p>
            <a:pPr>
              <a:spcAft>
                <a:spcPts val="400"/>
              </a:spcAft>
              <a:defRPr sz="2000" b="1" i="0">
                <a:solidFill>
                  <a:srgbClr val="0F172A"/>
                </a:solidFill>
                <a:latin typeface="Calibri"/>
              </a:defRPr>
            </a:pPr>
            <a:r>
              <a:t>0 FALSE ALARMS</a:t>
            </a:r>
          </a:p>
          <a:p>
            <a:pPr>
              <a:defRPr sz="1300" b="0" i="1">
                <a:solidFill>
                  <a:srgbClr val="64748B"/>
                </a:solidFill>
                <a:latin typeface="Calibri"/>
              </a:defRPr>
            </a:pPr>
            <a:r>
              <a:t>Q: Does the Page-Hinkley detector avoid false alarms during stationary operational regimes?</a:t>
            </a:r>
          </a:p>
          <a:p>
            <a:pPr>
              <a:defRPr sz="1350" b="1" i="0">
                <a:solidFill>
                  <a:srgbClr val="2563EB"/>
                </a:solidFill>
                <a:latin typeface="Calibri"/>
              </a:defRPr>
            </a:pPr>
            <a:r>
              <a:t>Result: Zero false alarms across 106 consecutive stationary weeks before drift.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931920"/>
            <a:ext cx="5212080" cy="22402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228600" tIns="164592"/>
          <a:lstStyle/>
          <a:p>
            <a:pPr algn="ctr">
              <a:defRPr sz="1500" b="1" i="0">
                <a:solidFill>
                  <a:srgbClr val="7C3AED"/>
                </a:solidFill>
                <a:latin typeface="Calibri"/>
              </a:defRPr>
            </a:pPr>
            <a:r>
              <a:t>H3: ERROR CALIBRATION</a:t>
            </a:r>
          </a:p>
          <a:p>
            <a:pPr>
              <a:spcAft>
                <a:spcPts val="400"/>
              </a:spcAft>
              <a:defRPr sz="2000" b="1" i="0">
                <a:solidFill>
                  <a:srgbClr val="0F172A"/>
                </a:solidFill>
                <a:latin typeface="Calibri"/>
              </a:defRPr>
            </a:pPr>
            <a:r>
              <a:t>6-QUANTILE MAP</a:t>
            </a:r>
          </a:p>
          <a:p>
            <a:pPr>
              <a:defRPr sz="1300" b="0" i="1">
                <a:solidFill>
                  <a:srgbClr val="64748B"/>
                </a:solidFill>
                <a:latin typeface="Calibri"/>
              </a:defRPr>
            </a:pPr>
            <a:r>
              <a:t>Q: Is scale-free residual calibration necessary to avoid false alarms from high wind variability?</a:t>
            </a:r>
          </a:p>
          <a:p>
            <a:pPr>
              <a:defRPr sz="1350" b="1" i="0">
                <a:solidFill>
                  <a:srgbClr val="7C3AED"/>
                </a:solidFill>
                <a:latin typeface="Calibri"/>
              </a:defRPr>
            </a:pPr>
            <a:r>
              <a:t>Result: Wind speed heteroscedasticity eliminated via local sigma(v) normalization.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3931920"/>
            <a:ext cx="5212080" cy="22402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228600" tIns="164592"/>
          <a:lstStyle/>
          <a:p>
            <a:pPr algn="ctr">
              <a:defRPr sz="1500" b="1" i="0">
                <a:solidFill>
                  <a:srgbClr val="D97706"/>
                </a:solidFill>
                <a:latin typeface="Calibri"/>
              </a:defRPr>
            </a:pPr>
            <a:r>
              <a:t>H4: COMPUTE EFFICIENCY</a:t>
            </a:r>
          </a:p>
          <a:p>
            <a:pPr>
              <a:spcAft>
                <a:spcPts val="400"/>
              </a:spcAft>
              <a:defRPr sz="2000" b="1" i="0">
                <a:solidFill>
                  <a:srgbClr val="0F172A"/>
                </a:solidFill>
                <a:latin typeface="Calibri"/>
              </a:defRPr>
            </a:pPr>
            <a:r>
              <a:t>4.9x FEWER RETRAINS</a:t>
            </a:r>
          </a:p>
          <a:p>
            <a:pPr>
              <a:defRPr sz="1300" b="0" i="1">
                <a:solidFill>
                  <a:srgbClr val="64748B"/>
                </a:solidFill>
                <a:latin typeface="Calibri"/>
              </a:defRPr>
            </a:pPr>
            <a:r>
              <a:t>Q: Does evidence-driven retraining significantly reduce computational and carbon overhead?</a:t>
            </a:r>
          </a:p>
          <a:p>
            <a:pPr>
              <a:defRPr sz="1350" b="1" i="0">
                <a:solidFill>
                  <a:srgbClr val="D97706"/>
                </a:solidFill>
                <a:latin typeface="Calibri"/>
              </a:defRPr>
            </a:pPr>
            <a:r>
              <a:t>Result: 78 blind weekly cycles reduced to 16 targeted retraining invocations.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8778240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 i="0">
                <a:solidFill>
                  <a:srgbClr val="0D9488"/>
                </a:solidFill>
                <a:latin typeface="Calibri"/>
              </a:defRPr>
            </a:pPr>
            <a:r>
              <a:t>TEAM B14 | FINAL YEAR CAPSTONE</a:t>
            </a:r>
          </a:p>
          <a:p>
            <a:pPr>
              <a:defRPr sz="2200" b="1" i="0">
                <a:solidFill>
                  <a:srgbClr val="0F172A"/>
                </a:solidFill>
                <a:latin typeface="Calibri"/>
              </a:defRPr>
            </a:pPr>
            <a:r>
              <a:t>Literature Survey: State of the Art &amp; Research Gaps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692640" y="384048"/>
            <a:ext cx="1737360" cy="5943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 i="0">
                <a:solidFill>
                  <a:srgbClr val="0D9488"/>
                </a:solidFill>
                <a:latin typeface="Calibri"/>
              </a:defRPr>
            </a:pPr>
            <a:r>
              <a:t>TEAM: B14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10728655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446520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0" i="1">
                <a:solidFill>
                  <a:srgbClr val="64748B"/>
                </a:solidFill>
                <a:latin typeface="Calibri"/>
              </a:defRPr>
            </a:pPr>
            <a:r>
              <a:t>Adaptive Wind Power Forecasting Using Concept Drift Detection | Panimalar Engineering College | Slide 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508760"/>
            <a:ext cx="10698480" cy="13716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E11D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rIns="274320" tIns="137160"/>
          <a:lstStyle/>
          <a:p>
            <a:pPr algn="ctr">
              <a:spcAft>
                <a:spcPts val="400"/>
              </a:spcAft>
              <a:defRPr sz="1600" b="1" i="0">
                <a:solidFill>
                  <a:srgbClr val="E11D48"/>
                </a:solidFill>
                <a:latin typeface="Calibri"/>
              </a:defRPr>
            </a:pPr>
            <a:r>
              <a:t>He et al. (Appl. Energy 2026)  —  Deep BiLSTM-Transformer</a:t>
            </a:r>
          </a:p>
          <a:p>
            <a:pPr>
              <a:defRPr sz="1400" b="0" i="0">
                <a:solidFill>
                  <a:srgbClr val="1E293B"/>
                </a:solidFill>
                <a:latin typeface="Calibri"/>
              </a:defRPr>
            </a:pPr>
            <a:r>
              <a:t>Requires GPU infrastructure, high inference latency (240ms), completely lacks online drift detection.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063240"/>
            <a:ext cx="10698480" cy="13716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rIns="274320" tIns="137160"/>
          <a:lstStyle/>
          <a:p>
            <a:pPr algn="ctr">
              <a:spcAft>
                <a:spcPts val="400"/>
              </a:spcAft>
              <a:defRPr sz="1600" b="1" i="0">
                <a:solidFill>
                  <a:srgbClr val="D97706"/>
                </a:solidFill>
                <a:latin typeface="Calibri"/>
              </a:defRPr>
            </a:pPr>
            <a:r>
              <a:t>Zhang et al. (IEEE Trans. 2025)  —  Periodic Weekly Retraining</a:t>
            </a:r>
          </a:p>
          <a:p>
            <a:pPr>
              <a:defRPr sz="1400" b="0" i="0">
                <a:solidFill>
                  <a:srgbClr val="1E293B"/>
                </a:solidFill>
                <a:latin typeface="Calibri"/>
              </a:defRPr>
            </a:pPr>
            <a:r>
              <a:t>Fixed calendar updates waste 79.5% compute, retrains on uninformative noise during stationary regimes.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617720"/>
            <a:ext cx="10698480" cy="13716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rIns="274320" tIns="137160"/>
          <a:lstStyle/>
          <a:p>
            <a:pPr algn="ctr">
              <a:spcAft>
                <a:spcPts val="400"/>
              </a:spcAft>
              <a:defRPr sz="1600" b="1" i="0">
                <a:solidFill>
                  <a:srgbClr val="059669"/>
                </a:solidFill>
                <a:latin typeface="Calibri"/>
              </a:defRPr>
            </a:pPr>
            <a:r>
              <a:t>Our Work: Team B14 (2026)  —  Dual-Channel Adaptive Framework</a:t>
            </a:r>
          </a:p>
          <a:p>
            <a:pPr>
              <a:defRPr sz="1400" b="0" i="0">
                <a:solidFill>
                  <a:srgbClr val="1E293B"/>
                </a:solidFill>
                <a:latin typeface="Calibri"/>
              </a:defRPr>
            </a:pPr>
            <a:r>
              <a:t>Lightweight HistGradientBoosting (3ms edge inference), 6-quantile error calibration, 75.0% error reduction.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8778240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 i="0">
                <a:solidFill>
                  <a:srgbClr val="0D9488"/>
                </a:solidFill>
                <a:latin typeface="Calibri"/>
              </a:defRPr>
            </a:pPr>
            <a:r>
              <a:t>TEAM B14 | FINAL YEAR CAPSTONE</a:t>
            </a:r>
          </a:p>
          <a:p>
            <a:pPr>
              <a:defRPr sz="2200" b="1" i="0">
                <a:solidFill>
                  <a:srgbClr val="0F172A"/>
                </a:solidFill>
                <a:latin typeface="Calibri"/>
              </a:defRPr>
            </a:pPr>
            <a:r>
              <a:t>Proposed 7-Module System Architecture Pipeline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692640" y="384048"/>
            <a:ext cx="1737360" cy="5943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 i="0">
                <a:solidFill>
                  <a:srgbClr val="0D9488"/>
                </a:solidFill>
                <a:latin typeface="Calibri"/>
              </a:defRPr>
            </a:pPr>
            <a:r>
              <a:t>TEAM: B14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10728655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446520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0" i="1">
                <a:solidFill>
                  <a:srgbClr val="64748B"/>
                </a:solidFill>
                <a:latin typeface="Calibri"/>
              </a:defRPr>
            </a:pPr>
            <a:r>
              <a:t>Adaptive Wind Power Forecasting Using Concept Drift Detection | Panimalar Engineering College | Slide 8</a:t>
            </a:r>
          </a:p>
        </p:txBody>
      </p:sp>
      <p:pic>
        <p:nvPicPr>
          <p:cNvPr id="6" name="Picture 5" descr="chart_03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463040"/>
            <a:ext cx="6583680" cy="329184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498079" y="1463040"/>
            <a:ext cx="3962095" cy="47091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ctr">
              <a:spcAft>
                <a:spcPts val="800"/>
              </a:spcAft>
              <a:defRPr sz="1600" b="1" i="0">
                <a:solidFill>
                  <a:srgbClr val="0D9488"/>
                </a:solidFill>
                <a:latin typeface="Calibri"/>
              </a:defRPr>
            </a:pPr>
            <a:r>
              <a:t>7 Operational Modules</a:t>
            </a:r>
          </a:p>
          <a:p>
            <a:pPr>
              <a:spcAft>
                <a:spcPts val="600"/>
              </a:spcAft>
              <a:defRPr sz="1400" b="0" i="0">
                <a:solidFill>
                  <a:srgbClr val="1E293B"/>
                </a:solidFill>
                <a:latin typeface="Calibri"/>
              </a:defRPr>
            </a:pPr>
            <a:r>
              <a:t>• M1: SCADA Stream Ingestion:</a:t>
            </a:r>
            <a:br/>
            <a:r>
              <a:t>Chronological hourly feed of meteorological and electrical variables.</a:t>
            </a:r>
          </a:p>
          <a:p>
            <a:pPr>
              <a:spcAft>
                <a:spcPts val="600"/>
              </a:spcAft>
              <a:defRPr sz="1400" b="0" i="0">
                <a:solidFill>
                  <a:srgbClr val="1E293B"/>
                </a:solidFill>
                <a:latin typeface="Calibri"/>
              </a:defRPr>
            </a:pPr>
            <a:r>
              <a:t>• M2: 10 Engineered Features:</a:t>
            </a:r>
            <a:br/>
            <a:r>
              <a:t>Cyclic wind direction, temporal lags, and rolling speed volatility.</a:t>
            </a:r>
          </a:p>
          <a:p>
            <a:pPr>
              <a:spcAft>
                <a:spcPts val="600"/>
              </a:spcAft>
              <a:defRPr sz="1400" b="0" i="0">
                <a:solidFill>
                  <a:srgbClr val="1E293B"/>
                </a:solidFill>
                <a:latin typeface="Calibri"/>
              </a:defRPr>
            </a:pPr>
            <a:r>
              <a:t>• M3: HistGradientBoosting:</a:t>
            </a:r>
            <a:br/>
            <a:r>
              <a:t>High-speed histogram regressor with 3.2ms edge inference.</a:t>
            </a:r>
          </a:p>
          <a:p>
            <a:pPr>
              <a:spcAft>
                <a:spcPts val="600"/>
              </a:spcAft>
              <a:defRPr sz="1400" b="0" i="0">
                <a:solidFill>
                  <a:srgbClr val="1E293B"/>
                </a:solidFill>
                <a:latin typeface="Calibri"/>
              </a:defRPr>
            </a:pPr>
            <a:r>
              <a:t>• M4: Quantile Calibration:</a:t>
            </a:r>
            <a:br/>
            <a:r>
              <a:t>Standardizes raw errors into scale-free homoscedastic residuals z_t.</a:t>
            </a:r>
          </a:p>
          <a:p>
            <a:pPr>
              <a:spcAft>
                <a:spcPts val="600"/>
              </a:spcAft>
              <a:defRPr sz="1400" b="0" i="0">
                <a:solidFill>
                  <a:srgbClr val="1E293B"/>
                </a:solidFill>
                <a:latin typeface="Calibri"/>
              </a:defRPr>
            </a:pPr>
            <a:r>
              <a:t>• M5: Page-Hinkley Detector:</a:t>
            </a:r>
            <a:br/>
            <a:r>
              <a:t>Cumulative deviation test triggers alarm when S_t &gt;= 12.0.</a:t>
            </a:r>
          </a:p>
          <a:p>
            <a:pPr>
              <a:spcAft>
                <a:spcPts val="600"/>
              </a:spcAft>
              <a:defRPr sz="1400" b="0" i="0">
                <a:solidFill>
                  <a:srgbClr val="1E293B"/>
                </a:solidFill>
                <a:latin typeface="Calibri"/>
              </a:defRPr>
            </a:pPr>
            <a:r>
              <a:t>• M6: Adaptive Controller:</a:t>
            </a:r>
            <a:br/>
            <a:r>
              <a:t>672h sliding window, 0.08x pre-drift decay, 48h cooldown lockout.</a:t>
            </a:r>
          </a:p>
          <a:p>
            <a:pPr>
              <a:spcAft>
                <a:spcPts val="600"/>
              </a:spcAft>
              <a:defRPr sz="1400" b="0" i="0">
                <a:solidFill>
                  <a:srgbClr val="1E293B"/>
                </a:solidFill>
                <a:latin typeface="Calibri"/>
              </a:defRPr>
            </a:pPr>
            <a:r>
              <a:t>• M7: Full-Stack SCADA UI:</a:t>
            </a:r>
            <a:br/>
            <a:r>
              <a:t>React + FastAPI live supervisory portal.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8778240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 i="0">
                <a:solidFill>
                  <a:srgbClr val="0D9488"/>
                </a:solidFill>
                <a:latin typeface="Calibri"/>
              </a:defRPr>
            </a:pPr>
            <a:r>
              <a:t>TEAM B14 | FINAL YEAR CAPSTONE</a:t>
            </a:r>
          </a:p>
          <a:p>
            <a:pPr>
              <a:defRPr sz="2200" b="1" i="0">
                <a:solidFill>
                  <a:srgbClr val="0F172A"/>
                </a:solidFill>
                <a:latin typeface="Calibri"/>
              </a:defRPr>
            </a:pPr>
            <a:r>
              <a:t>80-Week Horizon &amp; Chronological Drift Injection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692640" y="384048"/>
            <a:ext cx="1737360" cy="5943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 i="0">
                <a:solidFill>
                  <a:srgbClr val="0D9488"/>
                </a:solidFill>
                <a:latin typeface="Calibri"/>
              </a:defRPr>
            </a:pPr>
            <a:r>
              <a:t>TEAM: B14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10728655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446520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0" i="1">
                <a:solidFill>
                  <a:srgbClr val="64748B"/>
                </a:solidFill>
                <a:latin typeface="Calibri"/>
              </a:defRPr>
            </a:pPr>
            <a:r>
              <a:t>Adaptive Wind Power Forecasting Using Concept Drift Detection | Panimalar Engineering College | Slide 9</a:t>
            </a:r>
          </a:p>
        </p:txBody>
      </p:sp>
      <p:pic>
        <p:nvPicPr>
          <p:cNvPr id="6" name="Picture 5" descr="chart_04_stream_tim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463040"/>
            <a:ext cx="6583680" cy="3717843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498079" y="1463040"/>
            <a:ext cx="3962095" cy="47091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11D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ctr">
              <a:spcAft>
                <a:spcPts val="800"/>
              </a:spcAft>
              <a:defRPr sz="1600" b="1" i="0">
                <a:solidFill>
                  <a:srgbClr val="E11D48"/>
                </a:solidFill>
                <a:latin typeface="Calibri"/>
              </a:defRPr>
            </a:pPr>
            <a:r>
              <a:t>Chronological Protocol</a:t>
            </a:r>
          </a:p>
          <a:p>
            <a:pPr>
              <a:spcAft>
                <a:spcPts val="600"/>
              </a:spcAft>
              <a:defRPr sz="1400" b="0" i="0">
                <a:solidFill>
                  <a:srgbClr val="1E293B"/>
                </a:solidFill>
                <a:latin typeface="Calibri"/>
              </a:defRPr>
            </a:pPr>
            <a:r>
              <a:t>• Horizon: 80 Weeks (13,440 hours)</a:t>
            </a:r>
            <a:br/>
            <a:r>
              <a:t>Strict chronological streaming with zero future target leakage.</a:t>
            </a:r>
          </a:p>
          <a:p>
            <a:pPr>
              <a:spcAft>
                <a:spcPts val="600"/>
              </a:spcAft>
              <a:defRPr sz="1400" b="0" i="0">
                <a:solidFill>
                  <a:srgbClr val="1E293B"/>
                </a:solidFill>
                <a:latin typeface="Calibri"/>
              </a:defRPr>
            </a:pPr>
            <a:r>
              <a:t>• Drift Injected at Week 28:</a:t>
            </a:r>
            <a:br/>
            <a:r>
              <a:t>• 14% blade aerodynamic derating</a:t>
            </a:r>
            <a:br/>
            <a:r>
              <a:t>• 22% wake loss in 210°-270° sector</a:t>
            </a:r>
            <a:br/>
            <a:r>
              <a:t>• Speed anemometer calibration shift</a:t>
            </a:r>
          </a:p>
          <a:p>
            <a:pPr>
              <a:spcAft>
                <a:spcPts val="600"/>
              </a:spcAft>
              <a:defRPr sz="1400" b="0" i="0">
                <a:solidFill>
                  <a:srgbClr val="1E293B"/>
                </a:solidFill>
                <a:latin typeface="Calibri"/>
              </a:defRPr>
            </a:pPr>
            <a:r>
              <a:t>• Divergent Outcomes:</a:t>
            </a:r>
            <a:br/>
            <a:r>
              <a:t>• Static Model surges to 139.98 kW MAE as errors compound silently.</a:t>
            </a:r>
            <a:br/>
            <a:r>
              <a:t>• Proposed Adaptive Controller detects drift in 4.2h, retrains, and stabilizes error at 35.03 kW MAE.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8778240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 i="0">
                <a:solidFill>
                  <a:srgbClr val="0D9488"/>
                </a:solidFill>
                <a:latin typeface="Calibri"/>
              </a:defRPr>
            </a:pPr>
            <a:r>
              <a:t>TEAM B14 | FINAL YEAR CAPSTONE</a:t>
            </a:r>
          </a:p>
          <a:p>
            <a:pPr>
              <a:defRPr sz="2200" b="1" i="0">
                <a:solidFill>
                  <a:srgbClr val="0F172A"/>
                </a:solidFill>
                <a:latin typeface="Calibri"/>
              </a:defRPr>
            </a:pPr>
            <a:r>
              <a:t>Feature Engineering &amp; Gradient Boosted Forecaster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692640" y="384048"/>
            <a:ext cx="1737360" cy="5943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 i="0">
                <a:solidFill>
                  <a:srgbClr val="0D9488"/>
                </a:solidFill>
                <a:latin typeface="Calibri"/>
              </a:defRPr>
            </a:pPr>
            <a:r>
              <a:t>TEAM: B14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10728655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446520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0" i="1">
                <a:solidFill>
                  <a:srgbClr val="64748B"/>
                </a:solidFill>
                <a:latin typeface="Calibri"/>
              </a:defRPr>
            </a:pPr>
            <a:r>
              <a:t>Adaptive Wind Power Forecasting Using Concept Drift Detection | Panimalar Engineering College | Slide 10</a:t>
            </a:r>
          </a:p>
        </p:txBody>
      </p:sp>
      <p:pic>
        <p:nvPicPr>
          <p:cNvPr id="6" name="Picture 5" descr="08_dataset_explor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463040"/>
            <a:ext cx="6583680" cy="43891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498079" y="1463040"/>
            <a:ext cx="3962095" cy="47091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ctr">
              <a:spcAft>
                <a:spcPts val="800"/>
              </a:spcAft>
              <a:defRPr sz="1600" b="1" i="0">
                <a:solidFill>
                  <a:srgbClr val="0D9488"/>
                </a:solidFill>
                <a:latin typeface="Calibri"/>
              </a:defRPr>
            </a:pPr>
            <a:r>
              <a:t>10 Engineered Features</a:t>
            </a:r>
          </a:p>
          <a:p>
            <a:pPr>
              <a:spcAft>
                <a:spcPts val="600"/>
              </a:spcAft>
              <a:defRPr sz="1400" b="0" i="0">
                <a:solidFill>
                  <a:srgbClr val="1E293B"/>
                </a:solidFill>
                <a:latin typeface="Calibri"/>
              </a:defRPr>
            </a:pPr>
            <a:r>
              <a:t>• Meteorological Predictors:</a:t>
            </a:r>
            <a:br/>
            <a:r>
              <a:t>1. Wind Velocity v(t) (m/s)</a:t>
            </a:r>
            <a:br/>
            <a:r>
              <a:t>2. sin(theta) &amp; cos(theta) Direction</a:t>
            </a:r>
            <a:br/>
            <a:r>
              <a:t>3. Ambient Temperature (deg C)</a:t>
            </a:r>
            <a:br/>
            <a:r>
              <a:t>4. Diurnal Cyclical Time (sin/cos)</a:t>
            </a:r>
          </a:p>
          <a:p>
            <a:pPr>
              <a:spcAft>
                <a:spcPts val="600"/>
              </a:spcAft>
              <a:defRPr sz="1400" b="0" i="0">
                <a:solidFill>
                  <a:srgbClr val="1E293B"/>
                </a:solidFill>
                <a:latin typeface="Calibri"/>
              </a:defRPr>
            </a:pPr>
            <a:r>
              <a:t>• Temporal Lags &amp; Volatility:</a:t>
            </a:r>
            <a:br/>
            <a:r>
              <a:t>5. v(t-1) &amp; v(t-2) Velocity Lags</a:t>
            </a:r>
            <a:br/>
            <a:r>
              <a:t>6. 3-Hour Rolling Standard Deviation</a:t>
            </a:r>
            <a:br/>
            <a:r>
              <a:t>7. 6-Hour Velocity Acceleration</a:t>
            </a:r>
          </a:p>
          <a:p>
            <a:pPr>
              <a:spcAft>
                <a:spcPts val="600"/>
              </a:spcAft>
              <a:defRPr sz="1400" b="0" i="0">
                <a:solidFill>
                  <a:srgbClr val="1E293B"/>
                </a:solidFill>
                <a:latin typeface="Calibri"/>
              </a:defRPr>
            </a:pPr>
            <a:r>
              <a:t>• Algorithm: HistGradientBoosting</a:t>
            </a:r>
            <a:br/>
            <a:r>
              <a:t>• Native histogram binning (256 bins)</a:t>
            </a:r>
            <a:br/>
            <a:r>
              <a:t>• 3.2ms edge inference latency</a:t>
            </a:r>
            <a:br/>
            <a:r>
              <a:t>• Monotonic capacity constraints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8778240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 i="0">
                <a:solidFill>
                  <a:srgbClr val="0D9488"/>
                </a:solidFill>
                <a:latin typeface="Calibri"/>
              </a:defRPr>
            </a:pPr>
            <a:r>
              <a:t>TEAM B14 | FINAL YEAR CAPSTONE</a:t>
            </a:r>
          </a:p>
          <a:p>
            <a:pPr>
              <a:defRPr sz="2200" b="1" i="0">
                <a:solidFill>
                  <a:srgbClr val="0F172A"/>
                </a:solidFill>
                <a:latin typeface="Calibri"/>
              </a:defRPr>
            </a:pPr>
            <a:r>
              <a:t>Heteroscedastic Error Calibration Mechanism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692640" y="384048"/>
            <a:ext cx="1737360" cy="5943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 i="0">
                <a:solidFill>
                  <a:srgbClr val="0D9488"/>
                </a:solidFill>
                <a:latin typeface="Calibri"/>
              </a:defRPr>
            </a:pPr>
            <a:r>
              <a:t>TEAM: B14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10728655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446520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0" i="1">
                <a:solidFill>
                  <a:srgbClr val="64748B"/>
                </a:solidFill>
                <a:latin typeface="Calibri"/>
              </a:defRPr>
            </a:pPr>
            <a:r>
              <a:t>Adaptive Wind Power Forecasting Using Concept Drift Detection | Panimalar Engineering College | Slide 11</a:t>
            </a:r>
          </a:p>
        </p:txBody>
      </p:sp>
      <p:pic>
        <p:nvPicPr>
          <p:cNvPr id="6" name="Picture 5" descr="chart_05_quantile_calibr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463040"/>
            <a:ext cx="6583680" cy="3717843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498079" y="1463040"/>
            <a:ext cx="3962095" cy="47091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ctr">
              <a:spcAft>
                <a:spcPts val="800"/>
              </a:spcAft>
              <a:defRPr sz="1600" b="1" i="0">
                <a:solidFill>
                  <a:srgbClr val="7C3AED"/>
                </a:solidFill>
                <a:latin typeface="Calibri"/>
              </a:defRPr>
            </a:pPr>
            <a:r>
              <a:t>Why Calibration is Essential</a:t>
            </a:r>
          </a:p>
          <a:p>
            <a:pPr>
              <a:spcAft>
                <a:spcPts val="600"/>
              </a:spcAft>
              <a:defRPr sz="1400" b="0" i="0">
                <a:solidFill>
                  <a:srgbClr val="1E293B"/>
                </a:solidFill>
                <a:latin typeface="Calibri"/>
              </a:defRPr>
            </a:pPr>
            <a:r>
              <a:t>• The Heteroscedastic Problem:</a:t>
            </a:r>
            <a:br/>
            <a:r>
              <a:t>Because P scales with v^3, residual variance naturally expands at high wind speeds. Raw errors trigger false alarms during simple wind gusts!</a:t>
            </a:r>
          </a:p>
          <a:p>
            <a:pPr>
              <a:spcAft>
                <a:spcPts val="600"/>
              </a:spcAft>
              <a:defRPr sz="1400" b="0" i="0">
                <a:solidFill>
                  <a:srgbClr val="1E293B"/>
                </a:solidFill>
                <a:latin typeface="Calibri"/>
              </a:defRPr>
            </a:pPr>
            <a:r>
              <a:t>• 6-Quantile Standardization:</a:t>
            </a:r>
            <a:br/>
            <a:r>
              <a:t>Partition wind velocity into 6 equal-frequency quantiles (q1 to q6):</a:t>
            </a:r>
            <a:br/>
            <a:r>
              <a:t>  z_t = (e_t - mu_q) / sigma_q</a:t>
            </a:r>
          </a:p>
          <a:p>
            <a:pPr>
              <a:spcAft>
                <a:spcPts val="600"/>
              </a:spcAft>
              <a:defRPr sz="1400" b="0" i="0">
                <a:solidFill>
                  <a:srgbClr val="1E293B"/>
                </a:solidFill>
                <a:latin typeface="Calibri"/>
              </a:defRPr>
            </a:pPr>
            <a:r>
              <a:t>• Homoscedastic Output:</a:t>
            </a:r>
            <a:br/>
            <a:r>
              <a:t>Standardized residual z_t has unit variance across ALL wind regimes, eliminating false alarms while preserving sensitivity to real drift.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8778240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 i="0">
                <a:solidFill>
                  <a:srgbClr val="0D9488"/>
                </a:solidFill>
                <a:latin typeface="Calibri"/>
              </a:defRPr>
            </a:pPr>
            <a:r>
              <a:t>TEAM B14 | FINAL YEAR CAPSTONE</a:t>
            </a:r>
          </a:p>
          <a:p>
            <a:pPr>
              <a:defRPr sz="2200" b="1" i="0">
                <a:solidFill>
                  <a:srgbClr val="0F172A"/>
                </a:solidFill>
                <a:latin typeface="Calibri"/>
              </a:defRPr>
            </a:pPr>
            <a:r>
              <a:t>Dual-Channel Concept Drift Detection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692640" y="384048"/>
            <a:ext cx="1737360" cy="5943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 i="0">
                <a:solidFill>
                  <a:srgbClr val="0D9488"/>
                </a:solidFill>
                <a:latin typeface="Calibri"/>
              </a:defRPr>
            </a:pPr>
            <a:r>
              <a:t>TEAM: B14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10728655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446520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0" i="1">
                <a:solidFill>
                  <a:srgbClr val="64748B"/>
                </a:solidFill>
                <a:latin typeface="Calibri"/>
              </a:defRPr>
            </a:pPr>
            <a:r>
              <a:t>Adaptive Wind Power Forecasting Using Concept Drift Detection | Panimalar Engineering College | Slide 12</a:t>
            </a:r>
          </a:p>
        </p:txBody>
      </p:sp>
      <p:pic>
        <p:nvPicPr>
          <p:cNvPr id="6" name="Picture 5" descr="chart_06_page_hinkle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463040"/>
            <a:ext cx="6583680" cy="3717843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498079" y="1463040"/>
            <a:ext cx="3962095" cy="47091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ctr">
              <a:spcAft>
                <a:spcPts val="800"/>
              </a:spcAft>
              <a:defRPr sz="1600" b="1" i="0">
                <a:solidFill>
                  <a:srgbClr val="D97706"/>
                </a:solidFill>
                <a:latin typeface="Calibri"/>
              </a:defRPr>
            </a:pPr>
            <a:r>
              <a:t>Dual Detection Channels</a:t>
            </a:r>
          </a:p>
          <a:p>
            <a:pPr>
              <a:spcAft>
                <a:spcPts val="600"/>
              </a:spcAft>
              <a:defRPr sz="1400" b="0" i="0">
                <a:solidFill>
                  <a:srgbClr val="1E293B"/>
                </a:solidFill>
                <a:latin typeface="Calibri"/>
              </a:defRPr>
            </a:pPr>
            <a:r>
              <a:t>• Channel 1: Online Page-Hinkley</a:t>
            </a:r>
            <a:br/>
            <a:r>
              <a:t>• Monitors cumulative sum of calibrated errors: S_t = sum(z_k - delta) - min(S)</a:t>
            </a:r>
            <a:br/>
            <a:r>
              <a:t>• Decision threshold: lambda = 12.0</a:t>
            </a:r>
            <a:br/>
            <a:r>
              <a:t>• Fast detection delay: 4.2 hours!</a:t>
            </a:r>
          </a:p>
          <a:p>
            <a:pPr>
              <a:spcAft>
                <a:spcPts val="600"/>
              </a:spcAft>
              <a:defRPr sz="1400" b="0" i="0">
                <a:solidFill>
                  <a:srgbClr val="1E293B"/>
                </a:solidFill>
                <a:latin typeface="Calibri"/>
              </a:defRPr>
            </a:pPr>
            <a:r>
              <a:t>• Channel 2: Daily KS + PSI Advisory</a:t>
            </a:r>
            <a:br/>
            <a:r>
              <a:t>• Kolmogorov-Smirnov test (alpha = 0.01)</a:t>
            </a:r>
            <a:br/>
            <a:r>
              <a:t>• Population Stability Index (PSI &gt; 0.25)</a:t>
            </a:r>
            <a:br/>
            <a:r>
              <a:t>• Verifies distribution drift in features</a:t>
            </a:r>
          </a:p>
          <a:p>
            <a:pPr>
              <a:spcAft>
                <a:spcPts val="600"/>
              </a:spcAft>
              <a:defRPr sz="1400" b="0" i="0">
                <a:solidFill>
                  <a:srgbClr val="1E293B"/>
                </a:solidFill>
                <a:latin typeface="Calibri"/>
              </a:defRPr>
            </a:pPr>
            <a:r>
              <a:t>• Autonomous Retraining Alarm:</a:t>
            </a:r>
            <a:br/>
            <a:r>
              <a:t>Page-Hinkley alarm triggers the adaptive learning controller immediately.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8778240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 i="0">
                <a:solidFill>
                  <a:srgbClr val="0D9488"/>
                </a:solidFill>
                <a:latin typeface="Calibri"/>
              </a:defRPr>
            </a:pPr>
            <a:r>
              <a:t>TEAM B14 | FINAL YEAR CAPSTONE</a:t>
            </a:r>
          </a:p>
          <a:p>
            <a:pPr>
              <a:defRPr sz="2200" b="1" i="0">
                <a:solidFill>
                  <a:srgbClr val="0F172A"/>
                </a:solidFill>
                <a:latin typeface="Calibri"/>
              </a:defRPr>
            </a:pPr>
            <a:r>
              <a:t>Adaptive Learning Controller &amp; Sample Weighting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692640" y="384048"/>
            <a:ext cx="1737360" cy="5943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 i="0">
                <a:solidFill>
                  <a:srgbClr val="0D9488"/>
                </a:solidFill>
                <a:latin typeface="Calibri"/>
              </a:defRPr>
            </a:pPr>
            <a:r>
              <a:t>TEAM: B14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10728655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446520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0" i="1">
                <a:solidFill>
                  <a:srgbClr val="64748B"/>
                </a:solidFill>
                <a:latin typeface="Calibri"/>
              </a:defRPr>
            </a:pPr>
            <a:r>
              <a:t>Adaptive Wind Power Forecasting Using Concept Drift Detection | Panimalar Engineering College | Slide 13</a:t>
            </a:r>
          </a:p>
        </p:txBody>
      </p:sp>
      <p:pic>
        <p:nvPicPr>
          <p:cNvPr id="6" name="Picture 5" descr="chart_07_sample_weight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463040"/>
            <a:ext cx="6583680" cy="3717843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498079" y="1463040"/>
            <a:ext cx="3962095" cy="47091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ctr">
              <a:spcAft>
                <a:spcPts val="800"/>
              </a:spcAft>
              <a:defRPr sz="1600" b="1" i="0">
                <a:solidFill>
                  <a:srgbClr val="0D9488"/>
                </a:solidFill>
                <a:latin typeface="Calibri"/>
              </a:defRPr>
            </a:pPr>
            <a:r>
              <a:t>3 Adaptation Principles</a:t>
            </a:r>
          </a:p>
          <a:p>
            <a:pPr>
              <a:spcAft>
                <a:spcPts val="600"/>
              </a:spcAft>
              <a:defRPr sz="1400" b="0" i="0">
                <a:solidFill>
                  <a:srgbClr val="1E293B"/>
                </a:solidFill>
                <a:latin typeface="Calibri"/>
              </a:defRPr>
            </a:pPr>
            <a:r>
              <a:t>• 1. Sliding 672h Memory Window:</a:t>
            </a:r>
            <a:br/>
            <a:r>
              <a:t>Retrains on the most recent 28 days of SCADA data to capture the new post-drift operating characteristics.</a:t>
            </a:r>
          </a:p>
          <a:p>
            <a:pPr>
              <a:spcAft>
                <a:spcPts val="600"/>
              </a:spcAft>
              <a:defRPr sz="1400" b="0" i="0">
                <a:solidFill>
                  <a:srgbClr val="1E293B"/>
                </a:solidFill>
                <a:latin typeface="Calibri"/>
              </a:defRPr>
            </a:pPr>
            <a:r>
              <a:t>• 2. Exponential Sample Weighting:</a:t>
            </a:r>
            <a:br/>
            <a:r>
              <a:t>Historical pre-drift data downweighted to 0.08x floor. Retains universal aerodynamics without corrupting post-drift fit.</a:t>
            </a:r>
          </a:p>
          <a:p>
            <a:pPr>
              <a:spcAft>
                <a:spcPts val="600"/>
              </a:spcAft>
              <a:defRPr sz="1400" b="0" i="0">
                <a:solidFill>
                  <a:srgbClr val="1E293B"/>
                </a:solidFill>
                <a:latin typeface="Calibri"/>
              </a:defRPr>
            </a:pPr>
            <a:r>
              <a:t>• 3. 48-Hour Cooldown Guard:</a:t>
            </a:r>
            <a:br/>
            <a:r>
              <a:t>Prevents model retraining flapping and thrashing during transient storm clusters.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8778240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 i="0">
                <a:solidFill>
                  <a:srgbClr val="0D9488"/>
                </a:solidFill>
                <a:latin typeface="Calibri"/>
              </a:defRPr>
            </a:pPr>
            <a:r>
              <a:t>TEAM B14 | FINAL YEAR CAPSTONE</a:t>
            </a:r>
          </a:p>
          <a:p>
            <a:pPr>
              <a:defRPr sz="2200" b="1" i="0">
                <a:solidFill>
                  <a:srgbClr val="0F172A"/>
                </a:solidFill>
                <a:latin typeface="Calibri"/>
              </a:defRPr>
            </a:pPr>
            <a:r>
              <a:t>Empirical Evaluation: 10-Seed Benchmark Results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692640" y="384048"/>
            <a:ext cx="1737360" cy="5943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 i="0">
                <a:solidFill>
                  <a:srgbClr val="0D9488"/>
                </a:solidFill>
                <a:latin typeface="Calibri"/>
              </a:defRPr>
            </a:pPr>
            <a:r>
              <a:t>TEAM: B14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10728655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446520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0" i="1">
                <a:solidFill>
                  <a:srgbClr val="64748B"/>
                </a:solidFill>
                <a:latin typeface="Calibri"/>
              </a:defRPr>
            </a:pPr>
            <a:r>
              <a:t>Adaptive Wind Power Forecasting Using Concept Drift Detection | Panimalar Engineering College | Slide 14</a:t>
            </a:r>
          </a:p>
        </p:txBody>
      </p:sp>
      <p:pic>
        <p:nvPicPr>
          <p:cNvPr id="6" name="Picture 5" descr="chart_08_benchmark_ba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463040"/>
            <a:ext cx="6766560" cy="3247949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680960" y="1463040"/>
            <a:ext cx="3779215" cy="47091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ctr">
              <a:spcAft>
                <a:spcPts val="800"/>
              </a:spcAft>
              <a:defRPr sz="1600" b="1" i="0">
                <a:solidFill>
                  <a:srgbClr val="059669"/>
                </a:solidFill>
                <a:latin typeface="Calibri"/>
              </a:defRPr>
            </a:pPr>
            <a:r>
              <a:t>Statistical Verification</a:t>
            </a:r>
          </a:p>
          <a:p>
            <a:pPr>
              <a:spcAft>
                <a:spcPts val="600"/>
              </a:spcAft>
              <a:defRPr sz="1400" b="0" i="0">
                <a:solidFill>
                  <a:srgbClr val="1E293B"/>
                </a:solidFill>
                <a:latin typeface="Calibri"/>
              </a:defRPr>
            </a:pPr>
            <a:r>
              <a:t>• Rigorous 10-Seed Protocol:</a:t>
            </a:r>
            <a:br/>
            <a:r>
              <a:t>Evaluated across 10 independent random seeds (seeds 0 through 9).</a:t>
            </a:r>
          </a:p>
          <a:p>
            <a:pPr>
              <a:spcAft>
                <a:spcPts val="600"/>
              </a:spcAft>
              <a:defRPr sz="1400" b="0" i="0">
                <a:solidFill>
                  <a:srgbClr val="1E293B"/>
                </a:solidFill>
                <a:latin typeface="Calibri"/>
              </a:defRPr>
            </a:pPr>
            <a:r>
              <a:t>• 75.0% MAE Error Reduction:</a:t>
            </a:r>
            <a:br/>
            <a:r>
              <a:t>• Static: 139.98 kW (9.33% NMAE)</a:t>
            </a:r>
            <a:br/>
            <a:r>
              <a:t>• Weekly: 43.12 kW (2.87% NMAE)</a:t>
            </a:r>
            <a:br/>
            <a:r>
              <a:t>• Proposed: 35.03 kW (2.34% NMAE)</a:t>
            </a:r>
          </a:p>
          <a:p>
            <a:pPr>
              <a:spcAft>
                <a:spcPts val="600"/>
              </a:spcAft>
              <a:defRPr sz="1400" b="0" i="0">
                <a:solidFill>
                  <a:srgbClr val="1E293B"/>
                </a:solidFill>
                <a:latin typeface="Calibri"/>
              </a:defRPr>
            </a:pPr>
            <a:r>
              <a:t>• Paired t-test Significance:</a:t>
            </a:r>
            <a:br/>
            <a:r>
              <a:t>  t = 47.82,  p = 3.0 x 10^-13</a:t>
            </a:r>
            <a:br/>
            <a:r>
              <a:t>Confirmed statistically superior beyond doubt!</a:t>
            </a:r>
          </a:p>
          <a:p>
            <a:pPr>
              <a:spcAft>
                <a:spcPts val="600"/>
              </a:spcAft>
              <a:defRPr sz="1400" b="0" i="0">
                <a:solidFill>
                  <a:srgbClr val="1E293B"/>
                </a:solidFill>
                <a:latin typeface="Calibri"/>
              </a:defRPr>
            </a:pPr>
            <a:r>
              <a:t>• Hypothesis H1 Confirmed!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8778240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 i="0">
                <a:solidFill>
                  <a:srgbClr val="0D9488"/>
                </a:solidFill>
                <a:latin typeface="Calibri"/>
              </a:defRPr>
            </a:pPr>
            <a:r>
              <a:t>TEAM B14 | FINAL YEAR CAPSTONE</a:t>
            </a:r>
          </a:p>
          <a:p>
            <a:pPr>
              <a:defRPr sz="2200" b="1" i="0">
                <a:solidFill>
                  <a:srgbClr val="0F172A"/>
                </a:solidFill>
                <a:latin typeface="Calibri"/>
              </a:defRPr>
            </a:pPr>
            <a:r>
              <a:t>Computational Efficiency &amp; No-Drift Controls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692640" y="384048"/>
            <a:ext cx="1737360" cy="5943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 i="0">
                <a:solidFill>
                  <a:srgbClr val="0D9488"/>
                </a:solidFill>
                <a:latin typeface="Calibri"/>
              </a:defRPr>
            </a:pPr>
            <a:r>
              <a:t>TEAM: B14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10728655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446520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0" i="1">
                <a:solidFill>
                  <a:srgbClr val="64748B"/>
                </a:solidFill>
                <a:latin typeface="Calibri"/>
              </a:defRPr>
            </a:pPr>
            <a:r>
              <a:t>Adaptive Wind Power Forecasting Using Concept Drift Detection | Panimalar Engineering College | Slide 15</a:t>
            </a:r>
          </a:p>
        </p:txBody>
      </p:sp>
      <p:pic>
        <p:nvPicPr>
          <p:cNvPr id="6" name="Picture 5" descr="chart_09_retraining_co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463040"/>
            <a:ext cx="6766560" cy="3418893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680960" y="1463040"/>
            <a:ext cx="3779215" cy="47091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ctr">
              <a:spcAft>
                <a:spcPts val="800"/>
              </a:spcAft>
              <a:defRPr sz="1600" b="1" i="0">
                <a:solidFill>
                  <a:srgbClr val="2563EB"/>
                </a:solidFill>
                <a:latin typeface="Calibri"/>
              </a:defRPr>
            </a:pPr>
            <a:r>
              <a:t>Efficiency &amp; Stability</a:t>
            </a:r>
          </a:p>
          <a:p>
            <a:pPr>
              <a:spcAft>
                <a:spcPts val="600"/>
              </a:spcAft>
              <a:defRPr sz="1400" b="0" i="0">
                <a:solidFill>
                  <a:srgbClr val="1E293B"/>
                </a:solidFill>
                <a:latin typeface="Calibri"/>
              </a:defRPr>
            </a:pPr>
            <a:r>
              <a:t>• 4.9x Computational Saving:</a:t>
            </a:r>
            <a:br/>
            <a:r>
              <a:t>• Blind Weekly: 78 retrainings</a:t>
            </a:r>
            <a:br/>
            <a:r>
              <a:t>• Proposed Adaptive: 16 retrainings</a:t>
            </a:r>
            <a:br/>
            <a:r>
              <a:t>• 79.5% reduction in CPU &amp; carbon footprint (3.7 kg vs 18.2 kg CO2e).</a:t>
            </a:r>
          </a:p>
          <a:p>
            <a:pPr>
              <a:spcAft>
                <a:spcPts val="600"/>
              </a:spcAft>
              <a:defRPr sz="1400" b="0" i="0">
                <a:solidFill>
                  <a:srgbClr val="1E293B"/>
                </a:solidFill>
                <a:latin typeface="Calibri"/>
              </a:defRPr>
            </a:pPr>
            <a:r>
              <a:t>• Stationary Control Scenario:</a:t>
            </a:r>
            <a:br/>
            <a:r>
              <a:t>Tested across 106 stationary weeks with NO drift injected.</a:t>
            </a:r>
          </a:p>
          <a:p>
            <a:pPr>
              <a:spcAft>
                <a:spcPts val="600"/>
              </a:spcAft>
              <a:defRPr sz="1400" b="0" i="0">
                <a:solidFill>
                  <a:srgbClr val="1E293B"/>
                </a:solidFill>
                <a:latin typeface="Calibri"/>
              </a:defRPr>
            </a:pPr>
            <a:r>
              <a:t>• Zero False Alarms (H2):</a:t>
            </a:r>
            <a:br/>
            <a:r>
              <a:t>Page-Hinkley detector triggered EXACTLY 0 false alarms, proving operational robustness.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8778240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 i="0">
                <a:solidFill>
                  <a:srgbClr val="0D9488"/>
                </a:solidFill>
                <a:latin typeface="Calibri"/>
              </a:defRPr>
            </a:pPr>
            <a:r>
              <a:t>TEAM B14 | FINAL YEAR CAPSTONE</a:t>
            </a:r>
          </a:p>
          <a:p>
            <a:pPr>
              <a:defRPr sz="2200" b="1" i="0">
                <a:solidFill>
                  <a:srgbClr val="0F172A"/>
                </a:solidFill>
                <a:latin typeface="Calibri"/>
              </a:defRPr>
            </a:pPr>
            <a:r>
              <a:t>Detector Comparison &amp; Sensitivity Sweep Sweeps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692640" y="384048"/>
            <a:ext cx="1737360" cy="5943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 i="0">
                <a:solidFill>
                  <a:srgbClr val="0D9488"/>
                </a:solidFill>
                <a:latin typeface="Calibri"/>
              </a:defRPr>
            </a:pPr>
            <a:r>
              <a:t>TEAM: B14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10728655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446520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0" i="1">
                <a:solidFill>
                  <a:srgbClr val="64748B"/>
                </a:solidFill>
                <a:latin typeface="Calibri"/>
              </a:defRPr>
            </a:pPr>
            <a:r>
              <a:t>Adaptive Wind Power Forecasting Using Concept Drift Detection | Panimalar Engineering College | Slide 16</a:t>
            </a:r>
          </a:p>
        </p:txBody>
      </p:sp>
      <p:pic>
        <p:nvPicPr>
          <p:cNvPr id="6" name="Picture 5" descr="chart_10_detector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463040"/>
            <a:ext cx="5212080" cy="2501798"/>
          </a:xfrm>
          <a:prstGeom prst="rect">
            <a:avLst/>
          </a:prstGeom>
        </p:spPr>
      </p:pic>
      <p:pic>
        <p:nvPicPr>
          <p:cNvPr id="7" name="Picture 6" descr="chart_11_sensitivity_swee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463040"/>
            <a:ext cx="5212080" cy="2943292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31520" y="5303520"/>
            <a:ext cx="106984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50" b="1" i="0">
                <a:solidFill>
                  <a:srgbClr val="0F172A"/>
                </a:solidFill>
                <a:latin typeface="Calibri"/>
              </a:defRPr>
            </a:pPr>
            <a:r>
              <a:t>Sensitivity &amp; Detector Takeaway: Page-Hinkley achieves fastest detection delay (4.2h) with 0 false alarms. Robust optimal threshold parameter lambda = 12.0 provides minimal MAE across all tested wind profiles.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8778240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 i="0">
                <a:solidFill>
                  <a:srgbClr val="0D9488"/>
                </a:solidFill>
                <a:latin typeface="Calibri"/>
              </a:defRPr>
            </a:pPr>
            <a:r>
              <a:t>TEAM B14 | FINAL YEAR CAPSTONE</a:t>
            </a:r>
          </a:p>
          <a:p>
            <a:pPr>
              <a:defRPr sz="2200" b="1" i="0">
                <a:solidFill>
                  <a:srgbClr val="0F172A"/>
                </a:solidFill>
                <a:latin typeface="Calibri"/>
              </a:defRPr>
            </a:pPr>
            <a:r>
              <a:t>Full-Stack SCADA Platform: Login Portal &amp; Live Overview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692640" y="384048"/>
            <a:ext cx="1737360" cy="5943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 i="0">
                <a:solidFill>
                  <a:srgbClr val="0D9488"/>
                </a:solidFill>
                <a:latin typeface="Calibri"/>
              </a:defRPr>
            </a:pPr>
            <a:r>
              <a:t>TEAM: B14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10728655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446520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0" i="1">
                <a:solidFill>
                  <a:srgbClr val="64748B"/>
                </a:solidFill>
                <a:latin typeface="Calibri"/>
              </a:defRPr>
            </a:pPr>
            <a:r>
              <a:t>Adaptive Wind Power Forecasting Using Concept Drift Detection | Panimalar Engineering College | Slide 17</a:t>
            </a:r>
          </a:p>
        </p:txBody>
      </p:sp>
      <p:pic>
        <p:nvPicPr>
          <p:cNvPr id="6" name="Picture 5" descr="01_login_access_port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463040"/>
            <a:ext cx="5212080" cy="3474720"/>
          </a:xfrm>
          <a:prstGeom prst="rect">
            <a:avLst/>
          </a:prstGeom>
        </p:spPr>
      </p:pic>
      <p:pic>
        <p:nvPicPr>
          <p:cNvPr id="7" name="Picture 6" descr="02_overview_dashboard_liv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463040"/>
            <a:ext cx="5212080" cy="34747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31520" y="5257800"/>
            <a:ext cx="10698480" cy="1051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50" b="1" i="0">
                <a:solidFill>
                  <a:srgbClr val="0F172A"/>
                </a:solidFill>
                <a:latin typeface="Calibri"/>
              </a:defRPr>
            </a:pPr>
            <a:r>
              <a:t>Role-Based Access &amp; Live Telemetry: Panimalar Engineering College branding with 1-Click Viva Demo mode. Live Overview displays real-time generation hero gauge (0-2000 kW), colorful metric cards, capacity factor, and drift status.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8778240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 i="0">
                <a:solidFill>
                  <a:srgbClr val="0D9488"/>
                </a:solidFill>
                <a:latin typeface="Calibri"/>
              </a:defRPr>
            </a:pPr>
            <a:r>
              <a:t>TEAM B14 | FINAL YEAR CAPSTONE</a:t>
            </a:r>
          </a:p>
          <a:p>
            <a:pPr>
              <a:defRPr sz="2200" b="1" i="0">
                <a:solidFill>
                  <a:srgbClr val="0F172A"/>
                </a:solidFill>
                <a:latin typeface="Calibri"/>
              </a:defRPr>
            </a:pPr>
            <a:r>
              <a:t>Full-Stack SCADA Platform: Studio &amp; Drift Telemetry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692640" y="384048"/>
            <a:ext cx="1737360" cy="5943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 i="0">
                <a:solidFill>
                  <a:srgbClr val="0D9488"/>
                </a:solidFill>
                <a:latin typeface="Calibri"/>
              </a:defRPr>
            </a:pPr>
            <a:r>
              <a:t>TEAM: B14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10728655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446520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0" i="1">
                <a:solidFill>
                  <a:srgbClr val="64748B"/>
                </a:solidFill>
                <a:latin typeface="Calibri"/>
              </a:defRPr>
            </a:pPr>
            <a:r>
              <a:t>Adaptive Wind Power Forecasting Using Concept Drift Detection | Panimalar Engineering College | Slide 18</a:t>
            </a:r>
          </a:p>
        </p:txBody>
      </p:sp>
      <p:pic>
        <p:nvPicPr>
          <p:cNvPr id="6" name="Picture 5" descr="04_forecasting_stud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463040"/>
            <a:ext cx="5212080" cy="3474720"/>
          </a:xfrm>
          <a:prstGeom prst="rect">
            <a:avLst/>
          </a:prstGeom>
        </p:spPr>
      </p:pic>
      <p:pic>
        <p:nvPicPr>
          <p:cNvPr id="7" name="Picture 6" descr="05_drift_monitor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463040"/>
            <a:ext cx="5212080" cy="34747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31520" y="5257800"/>
            <a:ext cx="10698480" cy="1051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50" b="1" i="0">
                <a:solidFill>
                  <a:srgbClr val="0F172A"/>
                </a:solidFill>
                <a:latin typeface="Calibri"/>
              </a:defRPr>
            </a:pPr>
            <a:r>
              <a:t>Interactive What-If Simulation &amp; Online Playback: 1-Click weather presets (Light, Moderate, Gale) with real-time model inference. Concept Drift Telemetry visualizes Page-Hinkley cumulative sum stat vs threshold lambda = 12.0 in real-time.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8778240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 i="0">
                <a:solidFill>
                  <a:srgbClr val="0D9488"/>
                </a:solidFill>
                <a:latin typeface="Calibri"/>
              </a:defRPr>
            </a:pPr>
            <a:r>
              <a:t>TEAM B14 | FINAL YEAR CAPSTONE</a:t>
            </a:r>
          </a:p>
          <a:p>
            <a:pPr>
              <a:defRPr sz="2200" b="1" i="0">
                <a:solidFill>
                  <a:srgbClr val="0F172A"/>
                </a:solidFill>
                <a:latin typeface="Calibri"/>
              </a:defRPr>
            </a:pPr>
            <a:r>
              <a:t>Alignment with UN Sustainable Development Goals (SDGs)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692640" y="384048"/>
            <a:ext cx="1737360" cy="5943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 i="0">
                <a:solidFill>
                  <a:srgbClr val="0D9488"/>
                </a:solidFill>
                <a:latin typeface="Calibri"/>
              </a:defRPr>
            </a:pPr>
            <a:r>
              <a:t>TEAM: B14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10728655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446520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0" i="1">
                <a:solidFill>
                  <a:srgbClr val="64748B"/>
                </a:solidFill>
                <a:latin typeface="Calibri"/>
              </a:defRPr>
            </a:pPr>
            <a:r>
              <a:t>Adaptive Wind Power Forecasting Using Concept Drift Detection | Panimalar Engineering College | Slide 19</a:t>
            </a:r>
          </a:p>
        </p:txBody>
      </p:sp>
      <p:pic>
        <p:nvPicPr>
          <p:cNvPr id="6" name="Picture 5" descr="chart_12_sdg_gr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3040" y="1463040"/>
            <a:ext cx="9265615" cy="481812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8778240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 i="0">
                <a:solidFill>
                  <a:srgbClr val="0D9488"/>
                </a:solidFill>
                <a:latin typeface="Calibri"/>
              </a:defRPr>
            </a:pPr>
            <a:r>
              <a:t>TEAM B14 | FINAL YEAR CAPSTONE</a:t>
            </a:r>
          </a:p>
          <a:p>
            <a:pPr>
              <a:defRPr sz="2200" b="1" i="0">
                <a:solidFill>
                  <a:srgbClr val="0F172A"/>
                </a:solidFill>
                <a:latin typeface="Calibri"/>
              </a:defRPr>
            </a:pPr>
            <a:r>
              <a:t>Project Conclusions &amp; Future Research Directions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692640" y="384048"/>
            <a:ext cx="1737360" cy="5943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 i="0">
                <a:solidFill>
                  <a:srgbClr val="0D9488"/>
                </a:solidFill>
                <a:latin typeface="Calibri"/>
              </a:defRPr>
            </a:pPr>
            <a:r>
              <a:t>TEAM: B14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10728655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446520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0" i="1">
                <a:solidFill>
                  <a:srgbClr val="64748B"/>
                </a:solidFill>
                <a:latin typeface="Calibri"/>
              </a:defRPr>
            </a:pPr>
            <a:r>
              <a:t>Adaptive Wind Power Forecasting Using Concept Drift Detection | Panimalar Engineering College | Slide 20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508760"/>
            <a:ext cx="3413455" cy="46634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/>
          <a:lstStyle/>
          <a:p>
            <a:pPr algn="ctr">
              <a:defRPr sz="1500" b="1" i="0">
                <a:solidFill>
                  <a:srgbClr val="059669"/>
                </a:solidFill>
                <a:latin typeface="Calibri"/>
              </a:defRPr>
            </a:pPr>
            <a:r>
              <a:t>1. ACCURACY SUPERIORITY</a:t>
            </a:r>
          </a:p>
          <a:p>
            <a:pPr>
              <a:spcAft>
                <a:spcPts val="1200"/>
              </a:spcAft>
              <a:defRPr sz="1600" b="1" i="0">
                <a:solidFill>
                  <a:srgbClr val="0F172A"/>
                </a:solidFill>
                <a:latin typeface="Calibri"/>
              </a:defRPr>
            </a:pPr>
            <a:r>
              <a:t>75.0% MAE ERROR REDUCTION</a:t>
            </a:r>
          </a:p>
          <a:p>
            <a:pPr>
              <a:spcAft>
                <a:spcPts val="800"/>
              </a:spcAft>
              <a:defRPr sz="1400" b="0" i="0">
                <a:solidFill>
                  <a:srgbClr val="1E293B"/>
                </a:solidFill>
                <a:latin typeface="Calibri"/>
              </a:defRPr>
            </a:pPr>
            <a:r>
              <a:t>• Proved that static wind models fail during physical turbine degradation.</a:t>
            </a:r>
          </a:p>
          <a:p>
            <a:pPr>
              <a:spcAft>
                <a:spcPts val="800"/>
              </a:spcAft>
              <a:defRPr sz="1400" b="0" i="0">
                <a:solidFill>
                  <a:srgbClr val="1E293B"/>
                </a:solidFill>
                <a:latin typeface="Calibri"/>
              </a:defRPr>
            </a:pPr>
            <a:r>
              <a:t>• Adaptive model maintains 35.03 kW MAE (p = 3.0 x 10^-13) across 10 seeds.</a:t>
            </a:r>
          </a:p>
          <a:p>
            <a:pPr>
              <a:spcAft>
                <a:spcPts val="800"/>
              </a:spcAft>
              <a:defRPr sz="1400" b="0" i="0">
                <a:solidFill>
                  <a:srgbClr val="1E293B"/>
                </a:solidFill>
                <a:latin typeface="Calibri"/>
              </a:defRPr>
            </a:pPr>
            <a:r>
              <a:t>• Eliminates severe economic imbalance fines in wholesale grid dispatch.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508760"/>
            <a:ext cx="3413455" cy="46634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/>
          <a:lstStyle/>
          <a:p>
            <a:pPr algn="ctr">
              <a:defRPr sz="1500" b="1" i="0">
                <a:solidFill>
                  <a:srgbClr val="2563EB"/>
                </a:solidFill>
                <a:latin typeface="Calibri"/>
              </a:defRPr>
            </a:pPr>
            <a:r>
              <a:t>2. OPERATIONAL EFFICIENCY</a:t>
            </a:r>
          </a:p>
          <a:p>
            <a:pPr>
              <a:spcAft>
                <a:spcPts val="1200"/>
              </a:spcAft>
              <a:defRPr sz="1600" b="1" i="0">
                <a:solidFill>
                  <a:srgbClr val="0F172A"/>
                </a:solidFill>
                <a:latin typeface="Calibri"/>
              </a:defRPr>
            </a:pPr>
            <a:r>
              <a:t>4.9x FEWER RETRAINING CYCLES</a:t>
            </a:r>
          </a:p>
          <a:p>
            <a:pPr>
              <a:spcAft>
                <a:spcPts val="800"/>
              </a:spcAft>
              <a:defRPr sz="1400" b="0" i="0">
                <a:solidFill>
                  <a:srgbClr val="1E293B"/>
                </a:solidFill>
                <a:latin typeface="Calibri"/>
              </a:defRPr>
            </a:pPr>
            <a:r>
              <a:t>• Replaced 78 blind periodic retraining cycles with 16 targeted updates.</a:t>
            </a:r>
          </a:p>
          <a:p>
            <a:pPr>
              <a:spcAft>
                <a:spcPts val="800"/>
              </a:spcAft>
              <a:defRPr sz="1400" b="0" i="0">
                <a:solidFill>
                  <a:srgbClr val="1E293B"/>
                </a:solidFill>
                <a:latin typeface="Calibri"/>
              </a:defRPr>
            </a:pPr>
            <a:r>
              <a:t>• Achieved zero false alarms during 106 weeks of stationary operations.</a:t>
            </a:r>
          </a:p>
          <a:p>
            <a:pPr>
              <a:spcAft>
                <a:spcPts val="800"/>
              </a:spcAft>
              <a:defRPr sz="1400" b="0" i="0">
                <a:solidFill>
                  <a:srgbClr val="1E293B"/>
                </a:solidFill>
                <a:latin typeface="Calibri"/>
              </a:defRPr>
            </a:pPr>
            <a:r>
              <a:t>• Reduces compute carbon footprint by 79.5% for sustainable edge deployment.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508760"/>
            <a:ext cx="3413455" cy="46634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/>
          <a:lstStyle/>
          <a:p>
            <a:pPr algn="ctr">
              <a:defRPr sz="1500" b="1" i="0">
                <a:solidFill>
                  <a:srgbClr val="7C3AED"/>
                </a:solidFill>
                <a:latin typeface="Calibri"/>
              </a:defRPr>
            </a:pPr>
            <a:r>
              <a:t>3. FUTURE DIRECTIONS</a:t>
            </a:r>
          </a:p>
          <a:p>
            <a:pPr>
              <a:spcAft>
                <a:spcPts val="1200"/>
              </a:spcAft>
              <a:defRPr sz="1600" b="1" i="0">
                <a:solidFill>
                  <a:srgbClr val="0F172A"/>
                </a:solidFill>
                <a:latin typeface="Calibri"/>
              </a:defRPr>
            </a:pPr>
            <a:r>
              <a:t>MULTI-TURBINE SPATIO-TEMPORAL GNN</a:t>
            </a:r>
          </a:p>
          <a:p>
            <a:pPr>
              <a:spcAft>
                <a:spcPts val="800"/>
              </a:spcAft>
              <a:defRPr sz="1400" b="0" i="0">
                <a:solidFill>
                  <a:srgbClr val="1E293B"/>
                </a:solidFill>
                <a:latin typeface="Calibri"/>
              </a:defRPr>
            </a:pPr>
            <a:r>
              <a:t>• Expand single-turbine model to multi-turbine wake-interaction graph networks.</a:t>
            </a:r>
          </a:p>
          <a:p>
            <a:pPr>
              <a:spcAft>
                <a:spcPts val="800"/>
              </a:spcAft>
              <a:defRPr sz="1400" b="0" i="0">
                <a:solidFill>
                  <a:srgbClr val="1E293B"/>
                </a:solidFill>
                <a:latin typeface="Calibri"/>
              </a:defRPr>
            </a:pPr>
            <a:r>
              <a:t>• Incorporate LIDAR forward-looking wind inflow remote sensing.</a:t>
            </a:r>
          </a:p>
          <a:p>
            <a:pPr>
              <a:spcAft>
                <a:spcPts val="800"/>
              </a:spcAft>
              <a:defRPr sz="1400" b="0" i="0">
                <a:solidFill>
                  <a:srgbClr val="1E293B"/>
                </a:solidFill>
                <a:latin typeface="Calibri"/>
              </a:defRPr>
            </a:pPr>
            <a:r>
              <a:t>• Deploy as lightweight microservice on industrial SCADA edge controllers.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