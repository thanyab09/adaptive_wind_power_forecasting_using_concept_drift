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640080"/>
            <a:ext cx="10362895" cy="5577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defRPr sz="1800" b="1" i="0">
                <a:solidFill>
                  <a:srgbClr val="0F172A"/>
                </a:solidFill>
                <a:latin typeface="Calibri"/>
              </a:defRPr>
            </a:pPr>
            <a:r>
              <a:t>PANIMALAR ENGINEERING COLLEGE</a:t>
            </a:r>
          </a:p>
          <a:p>
            <a:pPr algn="ctr">
              <a:spcAft>
                <a:spcPts val="1600"/>
              </a:spcAft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An Autonomous Institution, Affiliated to Anna University, Chennai</a:t>
            </a:r>
            <a:br/>
            <a:r>
              <a:t>Department of Artificial Intelligence &amp; Machine Learning</a:t>
            </a:r>
          </a:p>
          <a:p>
            <a:pPr algn="ctr">
              <a:spcAft>
                <a:spcPts val="800"/>
              </a:spcAft>
              <a:defRPr sz="2600" b="1" i="0">
                <a:solidFill>
                  <a:srgbClr val="0D9488"/>
                </a:solidFill>
                <a:latin typeface="Calibri"/>
              </a:defRPr>
            </a:pPr>
            <a:r>
              <a:t>ADAPTIVE WIND POWER FORECASTING</a:t>
            </a:r>
            <a:br/>
            <a:r>
              <a:t>USING CONCEPT DRIFT DETECTION</a:t>
            </a:r>
          </a:p>
          <a:p>
            <a:pPr algn="ctr">
              <a:defRPr sz="1400" b="0" i="1">
                <a:solidFill>
                  <a:srgbClr val="64748B"/>
                </a:solidFill>
                <a:latin typeface="Calibri"/>
              </a:defRPr>
            </a:pPr>
            <a:r>
              <a:t>A Self-Healing AI System for Renewable Energy Grid Reliability | Final-Year Capstone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4114800"/>
            <a:ext cx="889985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sz="1400" b="1" i="0">
                <a:solidFill>
                  <a:srgbClr val="E11D48"/>
                </a:solidFill>
                <a:latin typeface="Calibri"/>
              </a:defRPr>
            </a:pPr>
            <a:r>
              <a:t>TEAM : B14</a:t>
            </a:r>
          </a:p>
          <a:p>
            <a:pPr>
              <a:defRPr sz="1350" b="1" i="0">
                <a:solidFill>
                  <a:srgbClr val="0F172A"/>
                </a:solidFill>
                <a:latin typeface="Calibri"/>
              </a:defRPr>
            </a:pPr>
            <a:r>
              <a:t>Student Candidates:   1. THANYA B  [211423247227]       2. THEJESSRI S  [211423247229]</a:t>
            </a:r>
          </a:p>
          <a:p>
            <a:pPr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Supervisor:    Mr. M. Ezhilvendhan, M.E., Assistant Professor</a:t>
            </a:r>
          </a:p>
          <a:p>
            <a:pPr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Head of Dept: Dr. G. Suresh, M.Tech., Ph.D., Professor &amp; HoD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TEAM B14 | FINAL YEAR PRESENTATION</a:t>
            </a:r>
          </a:p>
          <a:p>
            <a:pPr>
              <a:defRPr sz="2200" b="1" i="0">
                <a:solidFill>
                  <a:srgbClr val="0F172A"/>
                </a:solidFill>
                <a:latin typeface="Calibri"/>
              </a:defRPr>
            </a:pPr>
            <a:r>
              <a:t>Why Wind Power is Tricky to Predict (The Core Problem)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7373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Adaptive Wind Power Forecasting Using Concept Drift Detection | Panimalar Engineering College | Slide 2 of 15</a:t>
            </a:r>
          </a:p>
        </p:txBody>
      </p:sp>
      <p:pic>
        <p:nvPicPr>
          <p:cNvPr id="6" name="Picture 5" descr="chart_01_powe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5112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463040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800"/>
              </a:spcAft>
              <a:defRPr sz="1600" b="1" i="0">
                <a:solidFill>
                  <a:srgbClr val="2563EB"/>
                </a:solidFill>
                <a:latin typeface="Calibri"/>
              </a:defRPr>
            </a:pPr>
            <a:r>
              <a:t>The Non-Linear Wind Challenge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Power scales non-linearly: Wind power is governed by cubic speed physics. As wind speeds up, power jumps exponentially!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Error Amplification: A tiny +10% error in wind speed estimation triggers a massive +33% error in electricity generation!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Three Operational Regimes: Cut-in at 3 m/s (starts turning), Rated at 12 m/s (max 2000 kW), Cut-out at 25 m/s (feathers for safety).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High Stakes for the Grid: Power companies need exact hourly forecasts to avoid blackouts or expensive backup generator fines.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5074920"/>
            <a:ext cx="4297680" cy="12344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 i="0">
                <a:solidFill>
                  <a:srgbClr val="2563EB"/>
                </a:solidFill>
                <a:latin typeface="Calibri"/>
              </a:defRPr>
            </a:pPr>
            <a:r>
              <a:t>💡 HOW TO EXPLAIN THIS SLIDE (IN SIMPLE WORDS):</a:t>
            </a:r>
          </a:p>
          <a:p>
            <a:pPr>
              <a:defRPr sz="1200" b="0" i="1">
                <a:solidFill>
                  <a:srgbClr val="1E293B"/>
                </a:solidFill>
                <a:latin typeface="Calibri"/>
              </a:defRPr>
            </a:pPr>
            <a:r>
              <a:t>Tell the examiner: 'Because generated electricity grows cubically with wind speed, even a tiny gust causes massive power swings that power grids struggle to balance.'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TEAM B14 | FINAL YEAR PRESENTATION</a:t>
            </a:r>
          </a:p>
          <a:p>
            <a:pPr>
              <a:defRPr sz="2200" b="1" i="0">
                <a:solidFill>
                  <a:srgbClr val="0F172A"/>
                </a:solidFill>
                <a:latin typeface="Calibri"/>
              </a:defRPr>
            </a:pPr>
            <a:r>
              <a:t>What is 'Concept Drift'? (When Real-World Conditions Change)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7373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Adaptive Wind Power Forecasting Using Concept Drift Detection | Panimalar Engineering College | Slide 3 of 15</a:t>
            </a:r>
          </a:p>
        </p:txBody>
      </p:sp>
      <p:pic>
        <p:nvPicPr>
          <p:cNvPr id="6" name="Picture 5" descr="chart_02_concept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5112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463040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800"/>
              </a:spcAft>
              <a:defRPr sz="1600" b="1" i="0">
                <a:solidFill>
                  <a:srgbClr val="E11D48"/>
                </a:solidFill>
                <a:latin typeface="Calibri"/>
              </a:defRPr>
            </a:pPr>
            <a:r>
              <a:t>Real Drift vs Virtual Drift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Real Drift (Physical Wear): Turbine blades get eroded by dust and rain, or new downwind turbines block incoming wind. A 10 m/s breeze now makes 14% less power than before!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Virtual Drift (Sensors &amp; Seasons): Wind speed sensors get recalibrated or replaced, changing the numbers on the screen.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The Machine Learning Trap: Standard AI models assume the world is static. When drift occurs, they fail silently!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5074920"/>
            <a:ext cx="4297680" cy="12344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 i="0">
                <a:solidFill>
                  <a:srgbClr val="2563EB"/>
                </a:solidFill>
                <a:latin typeface="Calibri"/>
              </a:defRPr>
            </a:pPr>
            <a:r>
              <a:t>💡 HOW TO EXPLAIN THIS SLIDE (IN SIMPLE WORDS):</a:t>
            </a:r>
          </a:p>
          <a:p>
            <a:pPr>
              <a:defRPr sz="1200" b="0" i="1">
                <a:solidFill>
                  <a:srgbClr val="1E293B"/>
                </a:solidFill>
                <a:latin typeface="Calibri"/>
              </a:defRPr>
            </a:pPr>
            <a:r>
              <a:t>Tell the examiner: 'Just like an older car burns more fuel to hit the same speed, worn turbine blades generate less electricity from the exact same breeze.'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TEAM B14 | FINAL YEAR PRESENTATION</a:t>
            </a:r>
          </a:p>
          <a:p>
            <a:pPr>
              <a:defRPr sz="2200" b="1" i="0">
                <a:solidFill>
                  <a:srgbClr val="0F172A"/>
                </a:solidFill>
                <a:latin typeface="Calibri"/>
              </a:defRPr>
            </a:pPr>
            <a:r>
              <a:t>The Fatal Flaw of Conventional Industry Practice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7373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Adaptive Wind Power Forecasting Using Concept Drift Detection | Panimalar Engineering College | Slide 4 of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32004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800"/>
              </a:spcAft>
              <a:defRPr sz="1600" b="1" i="0">
                <a:solidFill>
                  <a:srgbClr val="E11D48"/>
                </a:solidFill>
                <a:latin typeface="Calibri"/>
              </a:defRPr>
            </a:pPr>
            <a:r>
              <a:t>1. Train-Once Static Model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Dangerous Assumption: Assumes turbine performance stays identical forever.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Silent Catastrophic Breakdown: When blades erode, the static model keeps over-predicting power by hundreds of kilowatts.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Real-World Consequence: Forecast error explodes past 140 kW MAE, causing massive wholesale market imbalance penalties.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32004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800"/>
              </a:spcAft>
              <a:defRPr sz="1600" b="1" i="0">
                <a:solidFill>
                  <a:srgbClr val="2563EB"/>
                </a:solidFill>
                <a:latin typeface="Calibri"/>
              </a:defRPr>
            </a:pPr>
            <a:r>
              <a:t>2. Blind Weekly Retraining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Arbitrary Calendar Retraining: Re-trains the model every Monday morning regardless of whether anything actually changed.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Enormous Compute Waste: Executes 78 retraining jobs over 80 weeks, wasting 80% computer energy and server costs.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Learning Bad Habits: During calm weather, it accidentally memorizes short-term weather noise instead of true turbine dynamics.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 i="0">
                <a:solidFill>
                  <a:srgbClr val="2563EB"/>
                </a:solidFill>
                <a:latin typeface="Calibri"/>
              </a:defRPr>
            </a:pPr>
            <a:r>
              <a:t>💡 HOW TO EXPLAIN THIS SLIDE (IN SIMPLE WORDS):</a:t>
            </a:r>
          </a:p>
          <a:p>
            <a:pPr>
              <a:defRPr sz="1200" b="0" i="1">
                <a:solidFill>
                  <a:srgbClr val="1E293B"/>
                </a:solidFill>
                <a:latin typeface="Calibri"/>
              </a:defRPr>
            </a:pPr>
            <a:r>
              <a:t>Tell the examiner: 'You wouldn't service your car blindly every Monday, nor would you drive 10 years without maintenance. You service it when the check-engine light turns on! Our AI builds that check-engine light.'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TEAM B14 | FINAL YEAR PRESENTATION</a:t>
            </a:r>
          </a:p>
          <a:p>
            <a:pPr>
              <a:defRPr sz="2200" b="1" i="0">
                <a:solidFill>
                  <a:srgbClr val="0F172A"/>
                </a:solidFill>
                <a:latin typeface="Calibri"/>
              </a:defRPr>
            </a:pPr>
            <a:r>
              <a:t>Our Solution: An Evidence-Driven, Self-Healing Forecaster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7373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Adaptive Wind Power Forecasting Using Concept Drift Detection | Panimalar Engineering College | Slide 5 of 15</a:t>
            </a:r>
          </a:p>
        </p:txBody>
      </p:sp>
      <p:pic>
        <p:nvPicPr>
          <p:cNvPr id="6" name="Picture 5" descr="chart_04_stream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5112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463040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800"/>
              </a:spcAft>
              <a:defRPr sz="1600" b="1" i="0">
                <a:solidFill>
                  <a:srgbClr val="059669"/>
                </a:solidFill>
                <a:latin typeface="Calibri"/>
              </a:defRPr>
            </a:pPr>
            <a:r>
              <a:t>Three Big Breakthroughs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Continuous Error Monitoring: The AI checks its own error every single hour. As long as error is normal, it stays quiet.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Rapid Drift Alarm: When physical wear happens at Week 28, error shoots up. The system sounds an alarm in just 4.2 hours!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Autonomous Self-Healing: The model retrains itself on the new data and immediately restores accuracy to 35 kW MAE.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75% Error Reduction: Prevents the massive 140 kW failure suffered by the traditional static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5074920"/>
            <a:ext cx="4297680" cy="12344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 i="0">
                <a:solidFill>
                  <a:srgbClr val="2563EB"/>
                </a:solidFill>
                <a:latin typeface="Calibri"/>
              </a:defRPr>
            </a:pPr>
            <a:r>
              <a:t>💡 HOW TO EXPLAIN THIS SLIDE (IN SIMPLE WORDS):</a:t>
            </a:r>
          </a:p>
          <a:p>
            <a:pPr>
              <a:defRPr sz="1200" b="0" i="1">
                <a:solidFill>
                  <a:srgbClr val="1E293B"/>
                </a:solidFill>
                <a:latin typeface="Calibri"/>
              </a:defRPr>
            </a:pPr>
            <a:r>
              <a:t>Tell the examiner: 'Look at the green line on this chart: while the red static model breaks down completely at Week 28, our green adaptive model detects the shift in 4 hours and stays accurate!'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TEAM B14 | FINAL YEAR PRESENTATION</a:t>
            </a:r>
          </a:p>
          <a:p>
            <a:pPr>
              <a:defRPr sz="2200" b="1" i="0">
                <a:solidFill>
                  <a:srgbClr val="0F172A"/>
                </a:solidFill>
                <a:latin typeface="Calibri"/>
              </a:defRPr>
            </a:pPr>
            <a:r>
              <a:t>How the System Works in 5 Simple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7373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Adaptive Wind Power Forecasting Using Concept Drift Detection | Panimalar Engineering College | Slide 6 of 15</a:t>
            </a:r>
          </a:p>
        </p:txBody>
      </p:sp>
      <p:pic>
        <p:nvPicPr>
          <p:cNvPr id="6" name="Picture 5" descr="chart_03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463040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800"/>
              </a:spcAft>
              <a:defRPr sz="1600" b="1" i="0">
                <a:solidFill>
                  <a:srgbClr val="0D9488"/>
                </a:solidFill>
                <a:latin typeface="Calibri"/>
              </a:defRPr>
            </a:pPr>
            <a:r>
              <a:t>The Self-Healing Loop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1. Stream SCADA Data: Collect wind speed, direction, temperature, and electrical power hourly.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2. Predict 1h Ahead: Fast Gradient Boosted Trees generate forecast in 3 milliseconds.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3. Verify Residual Gap: Compare prediction to actual generation to find the error.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4. Track Cumulative Drift: Page-Hinkley error accumulator watches for sustained error shifts.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5. Smart Self-Retrain: If error hits threshold, update model on recent data and lock for 48h.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5074920"/>
            <a:ext cx="4297680" cy="12344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 i="0">
                <a:solidFill>
                  <a:srgbClr val="2563EB"/>
                </a:solidFill>
                <a:latin typeface="Calibri"/>
              </a:defRPr>
            </a:pPr>
            <a:r>
              <a:t>💡 HOW TO EXPLAIN THIS SLIDE (IN SIMPLE WORDS):</a:t>
            </a:r>
          </a:p>
          <a:p>
            <a:pPr>
              <a:defRPr sz="1200" b="0" i="1">
                <a:solidFill>
                  <a:srgbClr val="1E293B"/>
                </a:solidFill>
                <a:latin typeface="Calibri"/>
              </a:defRPr>
            </a:pPr>
            <a:r>
              <a:t>Tell the examiner: 'It is an automated feedback loop: the model predicts, verifies its error, detects any systematic shift, and updates itself without requiring human intervention.'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TEAM B14 | FINAL YEAR PRESENTATION</a:t>
            </a:r>
          </a:p>
          <a:p>
            <a:pPr>
              <a:defRPr sz="2200" b="1" i="0">
                <a:solidFill>
                  <a:srgbClr val="0F172A"/>
                </a:solidFill>
                <a:latin typeface="Calibri"/>
              </a:defRPr>
            </a:pPr>
            <a:r>
              <a:t>The 10 Weather Signals We Feed the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7373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Adaptive Wind Power Forecasting Using Concept Drift Detection | Panimalar Engineering College | Slide 7 of 15</a:t>
            </a:r>
          </a:p>
        </p:txBody>
      </p:sp>
      <p:pic>
        <p:nvPicPr>
          <p:cNvPr id="6" name="Picture 5" descr="08_dataset_explo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145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463040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800"/>
              </a:spcAft>
              <a:defRPr sz="1600" b="1" i="0">
                <a:solidFill>
                  <a:srgbClr val="0D9488"/>
                </a:solidFill>
                <a:latin typeface="Calibri"/>
              </a:defRPr>
            </a:pPr>
            <a:r>
              <a:t>10 Engineered Meteorological Features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1. Wind Speed (v): Primary driver of kinetic power.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2. Wind Direction (sin/cos): Compass angle to detect directional wake shadowing from neighboring turbines.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3. Ambient Temperature: Cold air is denser and pushes turbine blades significantly harder than warm air.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4. Time of Day (sin/cos): Captures daily sea breeze cycles.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5. Lags v(t-1) &amp; v(t-2): Tracks recent speed momentum.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6. Rolling Volatility: 3-hour speed variance captures gustiness.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5074920"/>
            <a:ext cx="4297680" cy="12344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 i="0">
                <a:solidFill>
                  <a:srgbClr val="2563EB"/>
                </a:solidFill>
                <a:latin typeface="Calibri"/>
              </a:defRPr>
            </a:pPr>
            <a:r>
              <a:t>💡 HOW TO EXPLAIN THIS SLIDE (IN SIMPLE WORDS):</a:t>
            </a:r>
          </a:p>
          <a:p>
            <a:pPr>
              <a:defRPr sz="1200" b="0" i="1">
                <a:solidFill>
                  <a:srgbClr val="1E293B"/>
                </a:solidFill>
                <a:latin typeface="Calibri"/>
              </a:defRPr>
            </a:pPr>
            <a:r>
              <a:t>Tell the examiner: 'We don't feed raw numbers blindly. We encode compass directions and daily clock times as smooth circles (sin/cos) so the AI understands 359° is right next to 1°.'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TEAM B14 | FINAL YEAR PRESENTATION</a:t>
            </a:r>
          </a:p>
          <a:p>
            <a:pPr>
              <a:defRPr sz="2200" b="1" i="0">
                <a:solidFill>
                  <a:srgbClr val="0F172A"/>
                </a:solidFill>
                <a:latin typeface="Calibri"/>
              </a:defRPr>
            </a:pPr>
            <a:r>
              <a:t>Fair Error Scaling: Distinguishing Real Drift from Wind Gusts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7373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Adaptive Wind Power Forecasting Using Concept Drift Detection | Panimalar Engineering College | Slide 8 of 15</a:t>
            </a:r>
          </a:p>
        </p:txBody>
      </p:sp>
      <p:pic>
        <p:nvPicPr>
          <p:cNvPr id="6" name="Picture 5" descr="chart_05_quantile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5112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463040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800"/>
              </a:spcAft>
              <a:defRPr sz="1600" b="1" i="0">
                <a:solidFill>
                  <a:srgbClr val="7C3AED"/>
                </a:solidFill>
                <a:latin typeface="Calibri"/>
              </a:defRPr>
            </a:pPr>
            <a:r>
              <a:t>Why Scaling is Essential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The Trap (Natural Gustiness): Strong winds naturally produce bigger error swings. A naive detector would panic during every simple storm!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Our Solution (6-Speed Bins): We group wind speeds into 6 levels (q1 to q6) and evaluate prediction error relative to normal behavior at that speed.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The Result (Scale-Free Residual): Errors are standardized fairly across the entire operating range.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Zero False Alarms: Over 106 weeks of normal weather, the system triggered EXACTLY ZERO false alarms!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5074920"/>
            <a:ext cx="4297680" cy="12344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 i="0">
                <a:solidFill>
                  <a:srgbClr val="2563EB"/>
                </a:solidFill>
                <a:latin typeface="Calibri"/>
              </a:defRPr>
            </a:pPr>
            <a:r>
              <a:t>💡 HOW TO EXPLAIN THIS SLIDE (IN SIMPLE WORDS):</a:t>
            </a:r>
          </a:p>
          <a:p>
            <a:pPr>
              <a:defRPr sz="1200" b="0" i="1">
                <a:solidFill>
                  <a:srgbClr val="1E293B"/>
                </a:solidFill>
                <a:latin typeface="Calibri"/>
              </a:defRPr>
            </a:pPr>
            <a:r>
              <a:t>Tell the examiner: 'A $10 mistake on a $20 grocery bill is huge, but on a $1,000 laptop it is tiny. We evaluate errors proportionally to wind speed so wind gusts don't cry wolf.'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TEAM B14 | FINAL YEAR PRESENTATION</a:t>
            </a:r>
          </a:p>
          <a:p>
            <a:pPr>
              <a:defRPr sz="2200" b="1" i="0">
                <a:solidFill>
                  <a:srgbClr val="0F172A"/>
                </a:solidFill>
                <a:latin typeface="Calibri"/>
              </a:defRPr>
            </a:pPr>
            <a:r>
              <a:t>The Drift Alarm: Catching Changes in Just 4 Hours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7373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Adaptive Wind Power Forecasting Using Concept Drift Detection | Panimalar Engineering College | Slide 9 of 15</a:t>
            </a:r>
          </a:p>
        </p:txBody>
      </p:sp>
      <p:pic>
        <p:nvPicPr>
          <p:cNvPr id="6" name="Picture 5" descr="chart_06_page_hink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5112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463040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800"/>
              </a:spcAft>
              <a:defRPr sz="1600" b="1" i="0">
                <a:solidFill>
                  <a:srgbClr val="D97706"/>
                </a:solidFill>
                <a:latin typeface="Calibri"/>
              </a:defRPr>
            </a:pPr>
            <a:r>
              <a:t>How the Page-Hinkley Alarm Works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Cumulative Error Accumulator: The system maintains an ongoing score of unexpected errors over time.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Random Errors Cancel Out: Single gusts or temporary anomalies add zero to the score.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Persistent Errors Pile Up: When true physical degradation occurs, errors steadily accumulate.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Tripwire at 12.0: When the cumulative score crosses 12.0, the alarm triggers retraining immediately.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Fast Detection: Catches drift in just 4.2 hours!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5074920"/>
            <a:ext cx="4297680" cy="12344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 i="0">
                <a:solidFill>
                  <a:srgbClr val="2563EB"/>
                </a:solidFill>
                <a:latin typeface="Calibri"/>
              </a:defRPr>
            </a:pPr>
            <a:r>
              <a:t>💡 HOW TO EXPLAIN THIS SLIDE (IN SIMPLE WORDS):</a:t>
            </a:r>
          </a:p>
          <a:p>
            <a:pPr>
              <a:defRPr sz="1200" b="0" i="1">
                <a:solidFill>
                  <a:srgbClr val="1E293B"/>
                </a:solidFill>
                <a:latin typeface="Calibri"/>
              </a:defRPr>
            </a:pPr>
            <a:r>
              <a:t>Tell the examiner: 'Think of it like a baseball strike counter: one bad pitch is ignored, but three bad pitches in a row triggers an immediate call.'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TEAM B14 | FINAL YEAR PRESENTATION</a:t>
            </a:r>
          </a:p>
          <a:p>
            <a:pPr>
              <a:defRPr sz="2200" b="1" i="0">
                <a:solidFill>
                  <a:srgbClr val="0F172A"/>
                </a:solidFill>
                <a:latin typeface="Calibri"/>
              </a:defRPr>
            </a:pPr>
            <a:r>
              <a:t>Smart Retraining: Remembering the Basics, Learning the New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7373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Adaptive Wind Power Forecasting Using Concept Drift Detection | Panimalar Engineering College | Slide 10 of 15</a:t>
            </a:r>
          </a:p>
        </p:txBody>
      </p:sp>
      <p:pic>
        <p:nvPicPr>
          <p:cNvPr id="6" name="Picture 5" descr="chart_07_sample_weigh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5112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463040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800"/>
              </a:spcAft>
              <a:defRPr sz="1600" b="1" i="0">
                <a:solidFill>
                  <a:srgbClr val="0D9488"/>
                </a:solidFill>
                <a:latin typeface="Calibri"/>
              </a:defRPr>
            </a:pPr>
            <a:r>
              <a:t>The 3 Smart Retraining Rules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1. Sliding 4-Week Window (672 Hours): Trains primarily on the most recent 28 days of data reflecting the new turbine condition.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2. 8% Historical Memory Weight: Old data is NOT thrown away completely. It is downweighted to 0.08x so the AI retains universal aerodynamic laws.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3. 48-Hour Cooldown Guard: Locks retraining for 48 hours after an update to prevent thrashing during multi-day storm clusters.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5074920"/>
            <a:ext cx="4297680" cy="12344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 i="0">
                <a:solidFill>
                  <a:srgbClr val="2563EB"/>
                </a:solidFill>
                <a:latin typeface="Calibri"/>
              </a:defRPr>
            </a:pPr>
            <a:r>
              <a:t>💡 HOW TO EXPLAIN THIS SLIDE (IN SIMPLE WORDS):</a:t>
            </a:r>
          </a:p>
          <a:p>
            <a:pPr>
              <a:defRPr sz="1200" b="0" i="1">
                <a:solidFill>
                  <a:srgbClr val="1E293B"/>
                </a:solidFill>
                <a:latin typeface="Calibri"/>
              </a:defRPr>
            </a:pPr>
            <a:r>
              <a:t>Tell the examiner: 'If you move to a new city, you learn the local streets immediately (100% weight), but you don't forget how to drive a car (8% weight).'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TEAM B14 | FINAL YEAR PRESENTATION</a:t>
            </a:r>
          </a:p>
          <a:p>
            <a:pPr>
              <a:defRPr sz="2200" b="1" i="0">
                <a:solidFill>
                  <a:srgbClr val="0F172A"/>
                </a:solidFill>
                <a:latin typeface="Calibri"/>
              </a:defRPr>
            </a:pPr>
            <a:r>
              <a:t>The 80-Week Head-to-Head Showdown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7373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Adaptive Wind Power Forecasting Using Concept Drift Detection | Panimalar Engineering College | Slide 11 of 15</a:t>
            </a:r>
          </a:p>
        </p:txBody>
      </p:sp>
      <p:pic>
        <p:nvPicPr>
          <p:cNvPr id="6" name="Picture 5" descr="07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145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463040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800"/>
              </a:spcAft>
              <a:defRPr sz="1600" b="1" i="0">
                <a:solidFill>
                  <a:srgbClr val="E11D48"/>
                </a:solidFill>
                <a:latin typeface="Calibri"/>
              </a:defRPr>
            </a:pPr>
            <a:r>
              <a:t>Performance Across 3 Models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Static Model (No Updates): Error explodes to 139.98 kW MAE as soon as blades degrade. Model becomes totally useless.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Weekly Model (Blind Updates): Achieves 43.12 kW MAE, but wastes 78 retraining cycles retraining when nothing changed.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Our Adaptive Model (Evidence-Driven): Achieves 35.03 kW MAE — the lowest error in the entire competition!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Significant Improvement: 75.0% error reduction compared to static, and 18.8% better than blind weekly retraining.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5074920"/>
            <a:ext cx="4297680" cy="12344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 i="0">
                <a:solidFill>
                  <a:srgbClr val="2563EB"/>
                </a:solidFill>
                <a:latin typeface="Calibri"/>
              </a:defRPr>
            </a:pPr>
            <a:r>
              <a:t>💡 HOW TO EXPLAIN THIS SLIDE (IN SIMPLE WORDS):</a:t>
            </a:r>
          </a:p>
          <a:p>
            <a:pPr>
              <a:defRPr sz="1200" b="0" i="1">
                <a:solidFill>
                  <a:srgbClr val="1E293B"/>
                </a:solidFill>
                <a:latin typeface="Calibri"/>
              </a:defRPr>
            </a:pPr>
            <a:r>
              <a:t>Tell the examiner: 'Here on the screen is our live comparison: the pink card shows static failing at 140 kW, while our green adaptive card leads with 35 kW.'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TEAM B14 | FINAL YEAR PRESENTATION</a:t>
            </a:r>
          </a:p>
          <a:p>
            <a:pPr>
              <a:defRPr sz="2200" b="1" i="0">
                <a:solidFill>
                  <a:srgbClr val="0F172A"/>
                </a:solidFill>
                <a:latin typeface="Calibri"/>
              </a:defRPr>
            </a:pPr>
            <a:r>
              <a:t>Proven by 10 Independent Tests: 75% Lower Error, 5x Less Energy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7373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Adaptive Wind Power Forecasting Using Concept Drift Detection | Panimalar Engineering College | Slide 12 of 15</a:t>
            </a:r>
          </a:p>
        </p:txBody>
      </p:sp>
      <p:pic>
        <p:nvPicPr>
          <p:cNvPr id="6" name="Picture 5" descr="chart_08_benchmark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29846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463040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800"/>
              </a:spcAft>
              <a:defRPr sz="1600" b="1" i="0">
                <a:solidFill>
                  <a:srgbClr val="059669"/>
                </a:solidFill>
                <a:latin typeface="Calibri"/>
              </a:defRPr>
            </a:pPr>
            <a:r>
              <a:t>10-Seed Scientific Validation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75.0% MAE Error Reduction: Tested across 10 random seeds (seeds 0 through 9). The error dropped from 139.98 kW to 35.03 kW.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Statistically Proven Beyond Luck: Paired t-test confirms p = 3.0 x 10^-13 (infinitesimal probability of chance).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5x Less Computer Energy: Only 16 retrainings needed compared to 78 weekly runs (-79.5% compute reduction).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Zero False Alarms: 100% stable during stationary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5074920"/>
            <a:ext cx="4297680" cy="12344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 i="0">
                <a:solidFill>
                  <a:srgbClr val="2563EB"/>
                </a:solidFill>
                <a:latin typeface="Calibri"/>
              </a:defRPr>
            </a:pPr>
            <a:r>
              <a:t>💡 HOW TO EXPLAIN THIS SLIDE (IN SIMPLE WORDS):</a:t>
            </a:r>
          </a:p>
          <a:p>
            <a:pPr>
              <a:defRPr sz="1200" b="0" i="1">
                <a:solidFill>
                  <a:srgbClr val="1E293B"/>
                </a:solidFill>
                <a:latin typeface="Calibri"/>
              </a:defRPr>
            </a:pPr>
            <a:r>
              <a:t>Tell the examiner: 'We didn't just test this on one lucky run. We repeated the entire experiment 10 times with different random seeds, proving the 75% gain is 100% statistically genuine.'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TEAM B14 | FINAL YEAR PRESENTATION</a:t>
            </a:r>
          </a:p>
          <a:p>
            <a:pPr>
              <a:defRPr sz="2200" b="1" i="0">
                <a:solidFill>
                  <a:srgbClr val="0F172A"/>
                </a:solidFill>
                <a:latin typeface="Calibri"/>
              </a:defRPr>
            </a:pPr>
            <a:r>
              <a:t>Live Full-Stack SCADA Platform: Access Portal &amp;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7373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Adaptive Wind Power Forecasting Using Concept Drift Detection | Panimalar Engineering College | Slide 13 of 15</a:t>
            </a:r>
          </a:p>
        </p:txBody>
      </p:sp>
      <p:pic>
        <p:nvPicPr>
          <p:cNvPr id="6" name="Picture 5" descr="01_login_access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3474720"/>
          </a:xfrm>
          <a:prstGeom prst="rect">
            <a:avLst/>
          </a:prstGeom>
        </p:spPr>
      </p:pic>
      <p:pic>
        <p:nvPicPr>
          <p:cNvPr id="7" name="Picture 6" descr="02_overview_dashboard_l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3474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572000"/>
            <a:ext cx="106984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800"/>
              </a:spcAft>
              <a:defRPr sz="1600" b="1" i="0">
                <a:solidFill>
                  <a:srgbClr val="0D9488"/>
                </a:solidFill>
                <a:latin typeface="Calibri"/>
              </a:defRPr>
            </a:pPr>
            <a:r>
              <a:t>Built for Control Room Operators &amp; Examiners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1-Click Viva Demo Mode: Dedicated login role for examiners with preloaded demo data and simulation controls.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Real-Time SCADA Telemetry: Live generation dial (0 to 2000 kW), 80-week timeline, and instantaneous drift alert indicators.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698480" cy="7772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 i="0">
                <a:solidFill>
                  <a:srgbClr val="2563EB"/>
                </a:solidFill>
                <a:latin typeface="Calibri"/>
              </a:defRPr>
            </a:pPr>
            <a:r>
              <a:t>💡 HOW TO EXPLAIN THIS SLIDE (IN SIMPLE WORDS):</a:t>
            </a:r>
          </a:p>
          <a:p>
            <a:pPr>
              <a:defRPr sz="1200" b="0" i="1">
                <a:solidFill>
                  <a:srgbClr val="1E293B"/>
                </a:solidFill>
                <a:latin typeface="Calibri"/>
              </a:defRPr>
            </a:pPr>
            <a:r>
              <a:t>Tell the examiner: 'We built a complete, production-grade web application with React and FastAPI so operators can monitor the wind turbine in real-time.'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TEAM B14 | FINAL YEAR PRESENTATION</a:t>
            </a:r>
          </a:p>
          <a:p>
            <a:pPr>
              <a:defRPr sz="2200" b="1" i="0">
                <a:solidFill>
                  <a:srgbClr val="0F172A"/>
                </a:solidFill>
                <a:latin typeface="Calibri"/>
              </a:defRPr>
            </a:pPr>
            <a:r>
              <a:t>Interactive Forecasting Studio &amp; Real-Time Drift Telemetry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7373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Adaptive Wind Power Forecasting Using Concept Drift Detection | Panimalar Engineering College | Slide 14 of 15</a:t>
            </a:r>
          </a:p>
        </p:txBody>
      </p:sp>
      <p:pic>
        <p:nvPicPr>
          <p:cNvPr id="6" name="Picture 5" descr="04_forecasting_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3474720"/>
          </a:xfrm>
          <a:prstGeom prst="rect">
            <a:avLst/>
          </a:prstGeom>
        </p:spPr>
      </p:pic>
      <p:pic>
        <p:nvPicPr>
          <p:cNvPr id="7" name="Picture 6" descr="05_drift_monito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3474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572000"/>
            <a:ext cx="106984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800"/>
              </a:spcAft>
              <a:defRPr sz="1600" b="1" i="0">
                <a:solidFill>
                  <a:srgbClr val="2563EB"/>
                </a:solidFill>
                <a:latin typeface="Calibri"/>
              </a:defRPr>
            </a:pPr>
            <a:r>
              <a:t>Interactive Simulation Tools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What-If Weather Presets: 1-Click buttons for Light Breeze, Moderate Wind, and Gale Storms with instant power predictions.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Online Drift Telemetry: Watch the cumulative error score rise and trigger automatic retraining with full audit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698480" cy="7772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 i="0">
                <a:solidFill>
                  <a:srgbClr val="2563EB"/>
                </a:solidFill>
                <a:latin typeface="Calibri"/>
              </a:defRPr>
            </a:pPr>
            <a:r>
              <a:t>💡 HOW TO EXPLAIN THIS SLIDE (IN SIMPLE WORDS):</a:t>
            </a:r>
          </a:p>
          <a:p>
            <a:pPr>
              <a:defRPr sz="1200" b="0" i="1">
                <a:solidFill>
                  <a:srgbClr val="1E293B"/>
                </a:solidFill>
                <a:latin typeface="Calibri"/>
              </a:defRPr>
            </a:pPr>
            <a:r>
              <a:t>Tell the examiner: 'Operators can test hypothetical storm conditions using interactive sliders and watch the drift detection algorithm respond live.'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TEAM B14 | FINAL YEAR PRESENTATION</a:t>
            </a:r>
          </a:p>
          <a:p>
            <a:pPr>
              <a:defRPr sz="2200" b="1" i="0">
                <a:solidFill>
                  <a:srgbClr val="0F172A"/>
                </a:solidFill>
                <a:latin typeface="Calibri"/>
              </a:defRPr>
            </a:pPr>
            <a:r>
              <a:t>Real-World Impact &amp; 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384048"/>
            <a:ext cx="17373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TEAM: B14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Adaptive Wind Power Forecasting Using Concept Drift Detection | Panimalar Engineering College | Slide 15 of 15</a:t>
            </a:r>
          </a:p>
        </p:txBody>
      </p:sp>
      <p:pic>
        <p:nvPicPr>
          <p:cNvPr id="6" name="Picture 5" descr="chart_12_sdg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2333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463040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spcAft>
                <a:spcPts val="800"/>
              </a:spcAft>
              <a:defRPr sz="1600" b="1" i="0">
                <a:solidFill>
                  <a:srgbClr val="059669"/>
                </a:solidFill>
                <a:latin typeface="Calibri"/>
              </a:defRPr>
            </a:pPr>
            <a:r>
              <a:t>Why This Project Matters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1. Cheaper, Reliable Clean Energy (SDG 7): Accurate forecasts eliminate the need to keep expensive fossil fuel plants running on standby.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2. Climate Impact (SDG 13): Helps power grids accept +8.4% more wind energy, offsetting 1,420 tonnes of CO2e annually per wind farm.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3. Green &amp; Frugal Computing (SDG 12): Cuts retraining compute footprint by ~80%, easily running on low-cost edge computers.</a:t>
            </a:r>
          </a:p>
          <a:p>
            <a:pPr>
              <a:spcAft>
                <a:spcPts val="500"/>
              </a:spcAft>
              <a:defRPr sz="1350" b="0" i="0">
                <a:solidFill>
                  <a:srgbClr val="1E293B"/>
                </a:solidFill>
                <a:latin typeface="Calibri"/>
              </a:defRPr>
            </a:pPr>
            <a:r>
              <a:t>• 4. Industry Ready: Fast 3-millisecond inference, zero false alarms, and full-stack SCADA web platform ready for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5074920"/>
            <a:ext cx="4297680" cy="12344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300"/>
              </a:spcAft>
              <a:defRPr sz="1100" b="1" i="0">
                <a:solidFill>
                  <a:srgbClr val="2563EB"/>
                </a:solidFill>
                <a:latin typeface="Calibri"/>
              </a:defRPr>
            </a:pPr>
            <a:r>
              <a:t>💡 HOW TO EXPLAIN THIS SLIDE (IN SIMPLE WORDS):</a:t>
            </a:r>
          </a:p>
          <a:p>
            <a:pPr>
              <a:defRPr sz="1200" b="0" i="1">
                <a:solidFill>
                  <a:srgbClr val="1E293B"/>
                </a:solidFill>
                <a:latin typeface="Calibri"/>
              </a:defRPr>
            </a:pPr>
            <a:r>
              <a:t>Final Viva Conclusion Script: 'To conclude, our project solves a major bottleneck in renewable energy: by giving AI models a self-healing check-engine light, we achieve 75% higher accuracy with 5 times less compute, making wind energy cheaper and more dependable.'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